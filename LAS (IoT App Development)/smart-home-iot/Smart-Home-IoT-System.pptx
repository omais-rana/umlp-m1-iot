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</p:sldIdLst>
  <p:sldSz cx="14630400" cy="8229600"/>
  <p:notesSz cx="8229600" cy="14630400"/>
  <p:embeddedFontLst>
    <p:embeddedFont>
      <p:font typeface="Arimo" panose="020B0604020202020204" pitchFamily="34" charset="0"/>
      <p:regular r:id="rId14"/>
      <p:bold r:id="rId15"/>
      <p:italic r:id="rId16"/>
      <p:boldItalic r:id="rId17"/>
    </p:embeddedFont>
    <p:embeddedFont>
      <p:font typeface="Outfit Extra Bold" panose="020B0604020202020204" charset="0"/>
      <p:regular r:id="rId18"/>
    </p:embeddedFont>
    <p:embeddedFont>
      <p:font typeface="Outfit SemiBold" pitchFamily="2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F4"/>
    <a:srgbClr val="EE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65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938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36890"/>
            <a:ext cx="63371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Smart Home IoT System</a:t>
            </a:r>
            <a:endParaRPr lang="en-US" sz="4450" dirty="0">
              <a:latin typeface="Outfit SemiBold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7858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full-stack IoT system integrating real hardware sensors with unified automation and control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667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Project Team: 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Muhammad Omais Rana, Muhammad Shiraz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December 17, 2025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BCFA60-B76C-5709-A864-3FBED6C76A1D}"/>
              </a:ext>
            </a:extLst>
          </p:cNvPr>
          <p:cNvSpPr/>
          <p:nvPr/>
        </p:nvSpPr>
        <p:spPr>
          <a:xfrm>
            <a:off x="12801600" y="7660640"/>
            <a:ext cx="1747520" cy="487680"/>
          </a:xfrm>
          <a:prstGeom prst="rect">
            <a:avLst/>
          </a:prstGeom>
          <a:solidFill>
            <a:srgbClr val="EEEEF3"/>
          </a:solidFill>
          <a:ln>
            <a:solidFill>
              <a:srgbClr val="EEEE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400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Table of Contents</a:t>
            </a:r>
            <a:endParaRPr lang="en-US" sz="4450" dirty="0">
              <a:latin typeface="Outfit SemiBold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68902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Vision: Unified Home Automation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1312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System Architecture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57342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Multi-Protocol Network Stack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0156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Sensor Data Collection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Node-RED Hardware Automations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49000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6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Laravel Business Logic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34221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7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Hybrid Data Strategy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578441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8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Dual Dashboard System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2266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9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Future Enhancements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590312"/>
            <a:ext cx="9392841" cy="6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The Vision: Unified Home Automation</a:t>
            </a:r>
            <a:endParaRPr lang="en-US" sz="4200" dirty="0">
              <a:latin typeface="Outfit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1403" y="1690568"/>
            <a:ext cx="4232672" cy="2454116"/>
          </a:xfrm>
          <a:prstGeom prst="roundRect">
            <a:avLst>
              <a:gd name="adj" fmla="val 36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3693" y="1912858"/>
            <a:ext cx="644009" cy="644009"/>
          </a:xfrm>
          <a:prstGeom prst="roundRect">
            <a:avLst>
              <a:gd name="adj" fmla="val 14197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739" y="2089904"/>
            <a:ext cx="289798" cy="2897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3693" y="2771537"/>
            <a:ext cx="268366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Monitor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73693" y="3235643"/>
            <a:ext cx="3788093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Track environmental conditions with Temperature &amp; Humidity sensors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198745" y="1690568"/>
            <a:ext cx="4232791" cy="2454116"/>
          </a:xfrm>
          <a:prstGeom prst="roundRect">
            <a:avLst>
              <a:gd name="adj" fmla="val 36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21035" y="1912858"/>
            <a:ext cx="644009" cy="644009"/>
          </a:xfrm>
          <a:prstGeom prst="roundRect">
            <a:avLst>
              <a:gd name="adj" fmla="val 14197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98081" y="2089904"/>
            <a:ext cx="289798" cy="2897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1035" y="2771537"/>
            <a:ext cx="268366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Surveil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421035" y="3235643"/>
            <a:ext cx="3788212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MJPEG video feed for premises security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9646206" y="1690568"/>
            <a:ext cx="4232791" cy="2454116"/>
          </a:xfrm>
          <a:prstGeom prst="roundRect">
            <a:avLst>
              <a:gd name="adj" fmla="val 36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68495" y="1912858"/>
            <a:ext cx="644009" cy="644009"/>
          </a:xfrm>
          <a:prstGeom prst="roundRect">
            <a:avLst>
              <a:gd name="adj" fmla="val 14197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45541" y="2089904"/>
            <a:ext cx="289798" cy="2897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8495" y="2771537"/>
            <a:ext cx="268366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Simulate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868495" y="3235643"/>
            <a:ext cx="3788212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Virtual Door Sensor using Digital Twin concept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51403" y="4359354"/>
            <a:ext cx="6456402" cy="2110740"/>
          </a:xfrm>
          <a:prstGeom prst="roundRect">
            <a:avLst>
              <a:gd name="adj" fmla="val 427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73693" y="4581644"/>
            <a:ext cx="644009" cy="644009"/>
          </a:xfrm>
          <a:prstGeom prst="roundRect">
            <a:avLst>
              <a:gd name="adj" fmla="val 14197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0739" y="4758690"/>
            <a:ext cx="289798" cy="2897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3693" y="5440323"/>
            <a:ext cx="268366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Automate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973693" y="5904428"/>
            <a:ext cx="601182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Respond to environmental hazards with smart alerts</a:t>
            </a:r>
            <a:endParaRPr lang="en-US" sz="1650" dirty="0"/>
          </a:p>
        </p:txBody>
      </p:sp>
      <p:sp>
        <p:nvSpPr>
          <p:cNvPr id="23" name="Shape 17"/>
          <p:cNvSpPr/>
          <p:nvPr/>
        </p:nvSpPr>
        <p:spPr>
          <a:xfrm>
            <a:off x="7422475" y="4359354"/>
            <a:ext cx="6456521" cy="2110740"/>
          </a:xfrm>
          <a:prstGeom prst="roundRect">
            <a:avLst>
              <a:gd name="adj" fmla="val 427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644765" y="4581644"/>
            <a:ext cx="644009" cy="644009"/>
          </a:xfrm>
          <a:prstGeom prst="roundRect">
            <a:avLst>
              <a:gd name="adj" fmla="val 14197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21811" y="4758690"/>
            <a:ext cx="289798" cy="28979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44765" y="5440323"/>
            <a:ext cx="268366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Notify</a:t>
            </a:r>
            <a:endParaRPr lang="en-US" sz="2100" dirty="0"/>
          </a:p>
        </p:txBody>
      </p:sp>
      <p:sp>
        <p:nvSpPr>
          <p:cNvPr id="27" name="Text 20"/>
          <p:cNvSpPr/>
          <p:nvPr/>
        </p:nvSpPr>
        <p:spPr>
          <a:xfrm>
            <a:off x="7644765" y="5904428"/>
            <a:ext cx="6011942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Email alerts for security breaches and events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751403" y="6711553"/>
            <a:ext cx="1312759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Unlike proprietary systems, this open-source architecture provides a single interface to control your entire home ecosystem.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751403" y="7296388"/>
            <a:ext cx="1312759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6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5F815D-2DBE-3B73-62F9-E8CFB29EE953}"/>
              </a:ext>
            </a:extLst>
          </p:cNvPr>
          <p:cNvSpPr/>
          <p:nvPr/>
        </p:nvSpPr>
        <p:spPr>
          <a:xfrm>
            <a:off x="12801600" y="7660640"/>
            <a:ext cx="1747520" cy="487680"/>
          </a:xfrm>
          <a:prstGeom prst="rect">
            <a:avLst/>
          </a:prstGeom>
          <a:solidFill>
            <a:srgbClr val="EEEEF3"/>
          </a:solidFill>
          <a:ln>
            <a:solidFill>
              <a:srgbClr val="EEEE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709448"/>
            <a:ext cx="5486400" cy="68107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 1"/>
          <p:cNvSpPr/>
          <p:nvPr/>
        </p:nvSpPr>
        <p:spPr>
          <a:xfrm>
            <a:off x="6239113" y="759381"/>
            <a:ext cx="5376863" cy="67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System Architecture</a:t>
            </a:r>
            <a:endParaRPr lang="en-US" sz="4200" dirty="0">
              <a:latin typeface="Outfit SemiBol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39113" y="1969056"/>
            <a:ext cx="2169200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Hardware Layer</a:t>
            </a:r>
            <a:endParaRPr lang="en-US" sz="2100" dirty="0">
              <a:latin typeface="Outfit SemiBold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39113" y="2520077"/>
            <a:ext cx="2169200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ESP32 Sensor Node</a:t>
            </a: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controls four actuators: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39113" y="3745468"/>
            <a:ext cx="216920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Main Light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39113" y="4164687"/>
            <a:ext cx="216920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 Indicator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239113" y="4583906"/>
            <a:ext cx="216920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Mold Alert</a:t>
            </a: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DHT11 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39113" y="5121354"/>
            <a:ext cx="2169200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239113" y="5658803"/>
            <a:ext cx="2169200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ArduCAM Vision Node</a:t>
            </a: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streams live MJPEG video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940522" y="1969056"/>
            <a:ext cx="2169200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Processing Layer</a:t>
            </a:r>
            <a:endParaRPr lang="en-US" sz="2100" dirty="0">
              <a:latin typeface="Outfit SemiBold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940522" y="2520077"/>
            <a:ext cx="2169200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Node-RED:</a:t>
            </a: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Hardware automation brain running parallel flows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940522" y="3745468"/>
            <a:ext cx="2169200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InfluxDB:</a:t>
            </a: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Time-series sensor storage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940522" y="4626888"/>
            <a:ext cx="2169200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MySQL:</a:t>
            </a: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Relational device state management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1641931" y="1969056"/>
            <a:ext cx="2250877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Application Layer</a:t>
            </a:r>
            <a:endParaRPr lang="en-US" sz="2100" dirty="0">
              <a:latin typeface="Outfit SemiBold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641931" y="2520077"/>
            <a:ext cx="2250877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Laravel:</a:t>
            </a: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Primary control center and user interface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641931" y="3745468"/>
            <a:ext cx="2250877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Grafana:</a:t>
            </a: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Historical analytics and trend visualization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239113" y="7126129"/>
            <a:ext cx="7638574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6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DE831E-2242-08C5-05FC-DD7670622204}"/>
              </a:ext>
            </a:extLst>
          </p:cNvPr>
          <p:cNvSpPr/>
          <p:nvPr/>
        </p:nvSpPr>
        <p:spPr>
          <a:xfrm>
            <a:off x="12801600" y="7660640"/>
            <a:ext cx="1747520" cy="487680"/>
          </a:xfrm>
          <a:prstGeom prst="rect">
            <a:avLst/>
          </a:prstGeom>
          <a:solidFill>
            <a:srgbClr val="EEEEF3"/>
          </a:solidFill>
          <a:ln>
            <a:solidFill>
              <a:srgbClr val="EEEE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7246"/>
            <a:ext cx="78900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Multi-Protocol Network Stack</a:t>
            </a:r>
            <a:endParaRPr lang="en-US" sz="4450" dirty="0">
              <a:latin typeface="Outfit SemiBold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1664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MQTT</a:t>
            </a:r>
            <a:endParaRPr lang="en-US" sz="2200" dirty="0">
              <a:latin typeface="Outfit SemiBold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56886"/>
            <a:ext cx="304800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Lightweight Publish/Subscribe model for real-time sensor data and control commands. ESP32 publishes telemetry and subscribes to command topics.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125278" y="31664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HTTP</a:t>
            </a:r>
            <a:endParaRPr lang="en-US" sz="2200" dirty="0">
              <a:latin typeface="Outfit SemiBold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25278" y="365688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Handles media streaming (MJPEG video), database queries, and web dashboard delivery across the network.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56884" y="31664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SMTP</a:t>
            </a:r>
            <a:endParaRPr lang="en-US" sz="2200" dirty="0">
              <a:latin typeface="Outfit SemiBold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56884" y="365688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Laravel connects to mail servers to dispatch security alert emails when door status changes are detected.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788491" y="31664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TCP/IP Wi-Fi</a:t>
            </a:r>
            <a:endParaRPr lang="en-US" sz="2200" dirty="0">
              <a:latin typeface="Outfit SemiBold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8491" y="365688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Provides the underlying transport layer connectivity for all devices on the smart home network.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0894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3057A0-BE00-9A58-BB0D-70D562D3C015}"/>
              </a:ext>
            </a:extLst>
          </p:cNvPr>
          <p:cNvSpPr/>
          <p:nvPr/>
        </p:nvSpPr>
        <p:spPr>
          <a:xfrm>
            <a:off x="12801600" y="7660640"/>
            <a:ext cx="1747520" cy="487680"/>
          </a:xfrm>
          <a:prstGeom prst="rect">
            <a:avLst/>
          </a:prstGeom>
          <a:solidFill>
            <a:srgbClr val="EEEEF3"/>
          </a:solidFill>
          <a:ln>
            <a:solidFill>
              <a:srgbClr val="EEEE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965" y="594479"/>
            <a:ext cx="5153978" cy="60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Sensor Data Collection</a:t>
            </a:r>
            <a:endParaRPr lang="en-US" sz="3750" dirty="0">
              <a:latin typeface="Outfit SemiBold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74965" y="1775460"/>
            <a:ext cx="3800594" cy="2580323"/>
          </a:xfrm>
          <a:prstGeom prst="roundRect">
            <a:avLst>
              <a:gd name="adj" fmla="val 4252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74965" y="1752600"/>
            <a:ext cx="3800594" cy="91440"/>
          </a:xfrm>
          <a:prstGeom prst="roundRect">
            <a:avLst>
              <a:gd name="adj" fmla="val 8857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85940" y="1486257"/>
            <a:ext cx="578525" cy="578525"/>
          </a:xfrm>
          <a:prstGeom prst="roundRect">
            <a:avLst>
              <a:gd name="adj" fmla="val 158057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459534" y="1630918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0587" y="2257544"/>
            <a:ext cx="274605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Temperature &amp; Humidity</a:t>
            </a:r>
            <a:endParaRPr lang="en-US" sz="1850" dirty="0">
              <a:latin typeface="Outfit SemiBold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0587" y="2674501"/>
            <a:ext cx="336935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Real data from DHT11 sensor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0587" y="3098721"/>
            <a:ext cx="336935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Sampling Rate: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Every 5 seconds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0587" y="3522940"/>
            <a:ext cx="336935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Purpose: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Environmental monitoring and AC automation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68322" y="1775460"/>
            <a:ext cx="3800713" cy="2580323"/>
          </a:xfrm>
          <a:prstGeom prst="roundRect">
            <a:avLst>
              <a:gd name="adj" fmla="val 4252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8322" y="1752600"/>
            <a:ext cx="3800713" cy="91440"/>
          </a:xfrm>
          <a:prstGeom prst="roundRect">
            <a:avLst>
              <a:gd name="adj" fmla="val 8857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79416" y="1486257"/>
            <a:ext cx="578525" cy="578525"/>
          </a:xfrm>
          <a:prstGeom prst="roundRect">
            <a:avLst>
              <a:gd name="adj" fmla="val 158057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53009" y="1630918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883944" y="2257544"/>
            <a:ext cx="2410539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Visual Feed</a:t>
            </a:r>
            <a:endParaRPr lang="en-US" sz="1850" dirty="0">
              <a:latin typeface="Outfit SemiBold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83944" y="2674501"/>
            <a:ext cx="336946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Real data from ArduCAM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83944" y="3098721"/>
            <a:ext cx="336946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Format: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MJPEG Stream over Wi-Fi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83944" y="3522940"/>
            <a:ext cx="336946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Purpose: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Live premises surveillance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74965" y="4837748"/>
            <a:ext cx="7794069" cy="2271713"/>
          </a:xfrm>
          <a:prstGeom prst="roundRect">
            <a:avLst>
              <a:gd name="adj" fmla="val 4830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74965" y="4814888"/>
            <a:ext cx="7794069" cy="91440"/>
          </a:xfrm>
          <a:prstGeom prst="roundRect">
            <a:avLst>
              <a:gd name="adj" fmla="val 8857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282738" y="4548545"/>
            <a:ext cx="578525" cy="578525"/>
          </a:xfrm>
          <a:prstGeom prst="roundRect">
            <a:avLst>
              <a:gd name="adj" fmla="val 158057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456331" y="4693206"/>
            <a:ext cx="231338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90587" y="5319832"/>
            <a:ext cx="2410539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Door Status</a:t>
            </a:r>
            <a:endParaRPr lang="en-US" sz="1850" dirty="0">
              <a:latin typeface="Outfit SemiBold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90587" y="5736788"/>
            <a:ext cx="736282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Source: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Synthetic data via Dashboard Toggle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90587" y="6161008"/>
            <a:ext cx="736282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States: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0=Closed, 1=Open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90587" y="6585228"/>
            <a:ext cx="736282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Purpose:</a:t>
            </a: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Security event simulation and notification testing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74965" y="7326392"/>
            <a:ext cx="779406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25354"/>
            <a:ext cx="5692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Hybrid Data Strategy</a:t>
            </a:r>
            <a:endParaRPr lang="en-US" sz="4450" dirty="0">
              <a:latin typeface="Outfit SemiBold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20110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Real Physical Data</a:t>
            </a:r>
            <a:endParaRPr lang="en-US" sz="2650" dirty="0">
              <a:latin typeface="Outfit SemiBol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285321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Temperature readings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from DHT11 sensor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65831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Humidity measurements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from DHT11 sensor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46341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Video feeds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from </a:t>
            </a:r>
            <a:r>
              <a:rPr lang="en-US" sz="175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ArduCAM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hardware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393293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Provides authentic environmental monitoring and surveillance capabilities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220110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Synthetic Simulation</a:t>
            </a:r>
            <a:endParaRPr lang="en-US" sz="2650" dirty="0">
              <a:latin typeface="Outfit SemiBold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56321" y="285321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Door Sensor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simulated via software toggle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365831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Tests Laravel SMTP notification pipeline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446341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physical magnetic reed switch required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5393293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Enables testing of security workflows without additional hardware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69412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915" y="511373"/>
            <a:ext cx="7507843" cy="58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Node-RED Hardware Automations</a:t>
            </a:r>
            <a:endParaRPr lang="en-US" sz="3650" dirty="0">
              <a:latin typeface="Outfit SemiBold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0915" y="1464469"/>
            <a:ext cx="133285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Node-RED handles "fast" logic close to the hardware with three distinct automation flows: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440" y="1971199"/>
            <a:ext cx="6065520" cy="3916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0915" y="6097072"/>
            <a:ext cx="4318873" cy="1414939"/>
          </a:xfrm>
          <a:prstGeom prst="roundRect">
            <a:avLst>
              <a:gd name="adj" fmla="val 7755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8055" y="6097072"/>
            <a:ext cx="91440" cy="1414939"/>
          </a:xfrm>
          <a:prstGeom prst="roundRect">
            <a:avLst>
              <a:gd name="adj" fmla="val 85427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28330" y="6305907"/>
            <a:ext cx="2324814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1. Data Pipeline</a:t>
            </a:r>
            <a:endParaRPr lang="en-US" sz="1800" dirty="0">
              <a:latin typeface="Outfit SemiBold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28330" y="6708100"/>
            <a:ext cx="3832622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Ingests raw JSON from MQTT and writes to InfluxDB for historical analysis.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55763" y="6097072"/>
            <a:ext cx="4318873" cy="1414939"/>
          </a:xfrm>
          <a:prstGeom prst="roundRect">
            <a:avLst>
              <a:gd name="adj" fmla="val 7755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132903" y="6097072"/>
            <a:ext cx="91440" cy="1414939"/>
          </a:xfrm>
          <a:prstGeom prst="roundRect">
            <a:avLst>
              <a:gd name="adj" fmla="val 85427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33179" y="6305907"/>
            <a:ext cx="2324814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2. Smart AC Control</a:t>
            </a:r>
            <a:endParaRPr lang="en-US" sz="1800" dirty="0">
              <a:latin typeface="Outfit SemiBold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33179" y="6708100"/>
            <a:ext cx="3832622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Activates AC (Blue LED indicator) if temperature exceeds 27°C.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660612" y="6097072"/>
            <a:ext cx="4318873" cy="1414939"/>
          </a:xfrm>
          <a:prstGeom prst="roundRect">
            <a:avLst>
              <a:gd name="adj" fmla="val 7755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637752" y="6097072"/>
            <a:ext cx="91440" cy="1414939"/>
          </a:xfrm>
          <a:prstGeom prst="roundRect">
            <a:avLst>
              <a:gd name="adj" fmla="val 85427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938028" y="6305907"/>
            <a:ext cx="2425065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3. Mold &amp; Hazard Alert</a:t>
            </a:r>
            <a:endParaRPr lang="en-US" sz="1800" dirty="0">
              <a:latin typeface="Outfit SemiBold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938028" y="6708100"/>
            <a:ext cx="3832622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Activates Red LED warning if humidity exceeds 40%.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50915" y="7721203"/>
            <a:ext cx="13328571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</a:t>
            </a:r>
            <a:endParaRPr lang="en-US" sz="1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E894FA-9454-82E1-5922-FBEDA2A9EA68}"/>
              </a:ext>
            </a:extLst>
          </p:cNvPr>
          <p:cNvSpPr/>
          <p:nvPr/>
        </p:nvSpPr>
        <p:spPr>
          <a:xfrm>
            <a:off x="12801600" y="7721202"/>
            <a:ext cx="1747520" cy="427117"/>
          </a:xfrm>
          <a:prstGeom prst="rect">
            <a:avLst/>
          </a:prstGeom>
          <a:solidFill>
            <a:srgbClr val="EEEEF3"/>
          </a:solidFill>
          <a:ln>
            <a:solidFill>
              <a:srgbClr val="EEEE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2A010084-576F-23F5-BDC1-A64860767CD7}"/>
              </a:ext>
            </a:extLst>
          </p:cNvPr>
          <p:cNvSpPr/>
          <p:nvPr/>
        </p:nvSpPr>
        <p:spPr>
          <a:xfrm>
            <a:off x="846867" y="77071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38776"/>
            <a:ext cx="59334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Laravel Business Logic</a:t>
            </a:r>
            <a:endParaRPr lang="en-US" sz="4450" dirty="0">
              <a:latin typeface="Outfit SemiBold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4587716"/>
            <a:ext cx="13042821" cy="2320171"/>
          </a:xfrm>
          <a:prstGeom prst="roundRect">
            <a:avLst>
              <a:gd name="adj" fmla="val 410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8224" y="4822150"/>
            <a:ext cx="37753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Security Notification System</a:t>
            </a:r>
            <a:endParaRPr lang="en-US" sz="2200" dirty="0">
              <a:latin typeface="Outfit SemiBold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8224" y="5312569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Trigger: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Listens for state changes in MySQL table (Virtual Door)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224" y="5811560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Action: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When state changes to 1 (Open), Laravel queues a job to send email via SMTP to homeowner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8224" y="6310551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Purpose: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Event-driven alerting for security breaches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71630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A5C14C-0908-7281-3813-CD0CCDA3AFEE}"/>
              </a:ext>
            </a:extLst>
          </p:cNvPr>
          <p:cNvSpPr/>
          <p:nvPr/>
        </p:nvSpPr>
        <p:spPr>
          <a:xfrm>
            <a:off x="12801600" y="7660640"/>
            <a:ext cx="1747520" cy="487680"/>
          </a:xfrm>
          <a:prstGeom prst="rect">
            <a:avLst/>
          </a:prstGeom>
          <a:solidFill>
            <a:srgbClr val="EEEEF3"/>
          </a:solidFill>
          <a:ln>
            <a:solidFill>
              <a:srgbClr val="EEEE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505"/>
            <a:ext cx="63553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Dual Dashboard System</a:t>
            </a:r>
            <a:endParaRPr lang="en-US" sz="4450" dirty="0">
              <a:latin typeface="Outfit SemiBold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16912"/>
            <a:ext cx="2350175" cy="14524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70778" y="2916912"/>
            <a:ext cx="31570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Operational Dashboard</a:t>
            </a:r>
            <a:endParaRPr lang="en-US" sz="2200" dirty="0">
              <a:latin typeface="Outfit SemiBol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370778" y="3407331"/>
            <a:ext cx="38026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Platform: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Laravel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370778" y="3906322"/>
            <a:ext cx="380261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Functions: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Controls Main Light, monitors Door status, displays live Video feed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370778" y="5131118"/>
            <a:ext cx="380261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Purpose: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Real-time device control and monitoring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916912"/>
            <a:ext cx="2350175" cy="14524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33873" y="2916912"/>
            <a:ext cx="2892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Analytical Dashboard</a:t>
            </a:r>
            <a:endParaRPr lang="en-US" sz="2200" dirty="0">
              <a:latin typeface="Outfit SemiBold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033873" y="3407331"/>
            <a:ext cx="38027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Platform: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Grafana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033873" y="3906322"/>
            <a:ext cx="38027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Functions: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Visualizes historical Temperature and Humidity trends from InfluxDB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0033873" y="5131118"/>
            <a:ext cx="38027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Purpose:</a:t>
            </a: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Long-term pattern analysis and insights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93790" y="61120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09088D-DD5A-9A9A-7D48-A291ABE3D893}"/>
              </a:ext>
            </a:extLst>
          </p:cNvPr>
          <p:cNvSpPr/>
          <p:nvPr/>
        </p:nvSpPr>
        <p:spPr>
          <a:xfrm>
            <a:off x="12801600" y="7660640"/>
            <a:ext cx="1747520" cy="487680"/>
          </a:xfrm>
          <a:prstGeom prst="rect">
            <a:avLst/>
          </a:prstGeom>
          <a:solidFill>
            <a:srgbClr val="EEEEF3"/>
          </a:solidFill>
          <a:ln>
            <a:solidFill>
              <a:srgbClr val="EEEE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474" y="758309"/>
            <a:ext cx="5432822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31971"/>
                </a:solidFill>
                <a:latin typeface="Outfit SemiBold" pitchFamily="2" charset="0"/>
                <a:ea typeface="Outfit Extra Bold" pitchFamily="34" charset="-122"/>
                <a:cs typeface="Outfit Extra Bold" pitchFamily="34" charset="-120"/>
              </a:rPr>
              <a:t>Future Enhancements</a:t>
            </a:r>
            <a:endParaRPr lang="en-US" sz="4200" dirty="0">
              <a:latin typeface="Outfit SemiBold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61073" y="2066330"/>
            <a:ext cx="213479" cy="1251704"/>
          </a:xfrm>
          <a:prstGeom prst="roundRect">
            <a:avLst>
              <a:gd name="adj" fmla="val 4202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47474" y="1926193"/>
            <a:ext cx="640675" cy="640675"/>
          </a:xfrm>
          <a:prstGeom prst="roundRect">
            <a:avLst>
              <a:gd name="adj" fmla="val 7136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7613" y="2086332"/>
            <a:ext cx="320278" cy="3202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1629" y="1959531"/>
            <a:ext cx="3050024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Predictive HVAC Control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601629" y="2421255"/>
            <a:ext cx="6794897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 Machine Learning on InfluxDB data to activate AC based on historical daily patterns rather than simple temperature thresholds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1281351" y="3851910"/>
            <a:ext cx="213479" cy="1251704"/>
          </a:xfrm>
          <a:prstGeom prst="roundRect">
            <a:avLst>
              <a:gd name="adj" fmla="val 4202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1067753" y="3711773"/>
            <a:ext cx="640675" cy="640675"/>
          </a:xfrm>
          <a:prstGeom prst="roundRect">
            <a:avLst>
              <a:gd name="adj" fmla="val 7136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27892" y="3871913"/>
            <a:ext cx="320278" cy="3202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21907" y="3745111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Computer Vision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1921907" y="4206835"/>
            <a:ext cx="6474619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 camera feed to distinguish between authorized residents and intruders using facial recognition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1601748" y="5637490"/>
            <a:ext cx="213479" cy="1251704"/>
          </a:xfrm>
          <a:prstGeom prst="roundRect">
            <a:avLst>
              <a:gd name="adj" fmla="val 4202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1388150" y="5497354"/>
            <a:ext cx="640675" cy="640675"/>
          </a:xfrm>
          <a:prstGeom prst="roundRect">
            <a:avLst>
              <a:gd name="adj" fmla="val 71362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48289" y="5657493"/>
            <a:ext cx="320278" cy="3202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242304" y="5530691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Energy Optimization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2242304" y="5992416"/>
            <a:ext cx="6154222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Correlate "AC On" duration with temperature drops to calculate room insulation efficiency and reduce energy consumption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747474" y="7129582"/>
            <a:ext cx="7649051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648</Words>
  <Application>Microsoft Office PowerPoint</Application>
  <PresentationFormat>Custom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Arimo</vt:lpstr>
      <vt:lpstr>Outfit Extra Bold</vt:lpstr>
      <vt:lpstr>Arial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XENO Novak</cp:lastModifiedBy>
  <cp:revision>6</cp:revision>
  <dcterms:created xsi:type="dcterms:W3CDTF">2025-12-16T21:26:34Z</dcterms:created>
  <dcterms:modified xsi:type="dcterms:W3CDTF">2025-12-16T22:10:18Z</dcterms:modified>
</cp:coreProperties>
</file>