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Instrument Sans Medium" pitchFamily="2" charset="0"/>
      <p:regular r:id="rId17"/>
      <p:italic r:id="rId18"/>
    </p:embeddedFont>
    <p:embeddedFont>
      <p:font typeface="Instrument Sans Semi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5440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svg"/><Relationship Id="rId2" Type="http://schemas.openxmlformats.org/officeDocument/2006/relationships/notesSlide" Target="../notesSlides/notesSlide10.xml"/><Relationship Id="rId16" Type="http://schemas.openxmlformats.org/officeDocument/2006/relationships/image" Target="../media/image36.png"/><Relationship Id="rId1" Type="http://schemas.openxmlformats.org/officeDocument/2006/relationships/slideLayout" Target="../slideLayouts/slideLayout11.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sv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2956322"/>
            <a:ext cx="6375916" cy="620078"/>
          </a:xfrm>
          <a:prstGeom prst="rect">
            <a:avLst/>
          </a:prstGeom>
          <a:noFill/>
          <a:ln/>
        </p:spPr>
        <p:txBody>
          <a:bodyPr wrap="none" lIns="0" tIns="0" rIns="0" bIns="0" rtlCol="0" anchor="t"/>
          <a:lstStyle/>
          <a:p>
            <a:pPr marL="0" indent="0" algn="l">
              <a:lnSpc>
                <a:spcPts val="4850"/>
              </a:lnSpc>
              <a:buNone/>
            </a:pPr>
            <a:r>
              <a:rPr lang="en-US" sz="3900" b="1" dirty="0">
                <a:solidFill>
                  <a:srgbClr val="091C53"/>
                </a:solidFill>
                <a:latin typeface="Instrument Sans Semi Bold" pitchFamily="34" charset="0"/>
                <a:ea typeface="Instrument Sans Semi Bold" pitchFamily="34" charset="-122"/>
                <a:cs typeface="Instrument Sans Semi Bold" pitchFamily="34" charset="-120"/>
              </a:rPr>
              <a:t>Indoor Positioning Systems</a:t>
            </a:r>
            <a:endParaRPr lang="en-US" sz="3900" b="1" dirty="0"/>
          </a:p>
        </p:txBody>
      </p:sp>
      <p:sp>
        <p:nvSpPr>
          <p:cNvPr id="4" name="Text 1"/>
          <p:cNvSpPr/>
          <p:nvPr/>
        </p:nvSpPr>
        <p:spPr>
          <a:xfrm>
            <a:off x="6280190" y="3874056"/>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 Study of Geometrical, Probabilistic, and Predictive Localization</a:t>
            </a:r>
            <a:endParaRPr lang="en-US" sz="1550" dirty="0"/>
          </a:p>
        </p:txBody>
      </p:sp>
      <p:sp>
        <p:nvSpPr>
          <p:cNvPr id="5" name="Text 2"/>
          <p:cNvSpPr/>
          <p:nvPr/>
        </p:nvSpPr>
        <p:spPr>
          <a:xfrm>
            <a:off x="6280190" y="4414838"/>
            <a:ext cx="7556421" cy="317540"/>
          </a:xfrm>
          <a:prstGeom prst="rect">
            <a:avLst/>
          </a:prstGeom>
          <a:noFill/>
          <a:ln/>
        </p:spPr>
        <p:txBody>
          <a:bodyPr wrap="none" lIns="0" tIns="0" rIns="0" bIns="0" rtlCol="0" anchor="t"/>
          <a:lstStyle/>
          <a:p>
            <a:pPr marL="0" indent="0" algn="l">
              <a:lnSpc>
                <a:spcPts val="250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Group 2 </a:t>
            </a:r>
            <a:r>
              <a:rPr lang="en-US" sz="1550" dirty="0">
                <a:solidFill>
                  <a:srgbClr val="1E3063"/>
                </a:solidFill>
                <a:latin typeface="Instrument Sans Medium" pitchFamily="34" charset="0"/>
                <a:ea typeface="Instrument Sans Medium" pitchFamily="34" charset="-122"/>
                <a:cs typeface="Instrument Sans Medium" pitchFamily="34" charset="-120"/>
              </a:rPr>
              <a:t>— Muhammad Omais RANA &amp; Xavier KNOEPFFLER-POUT</a:t>
            </a:r>
            <a:endParaRPr lang="en-US" sz="1550" dirty="0"/>
          </a:p>
        </p:txBody>
      </p:sp>
      <p:sp>
        <p:nvSpPr>
          <p:cNvPr id="6" name="Text 3"/>
          <p:cNvSpPr/>
          <p:nvPr/>
        </p:nvSpPr>
        <p:spPr>
          <a:xfrm>
            <a:off x="6280190" y="4955619"/>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March 23, 2026</a:t>
            </a:r>
            <a:endParaRPr lang="en-US" sz="1550" dirty="0"/>
          </a:p>
        </p:txBody>
      </p:sp>
      <p:sp>
        <p:nvSpPr>
          <p:cNvPr id="7" name="Rectangle 6">
            <a:extLst>
              <a:ext uri="{FF2B5EF4-FFF2-40B4-BE49-F238E27FC236}">
                <a16:creationId xmlns:a16="http://schemas.microsoft.com/office/drawing/2014/main" id="{3C44044D-4F66-35F3-CE68-363A4A3F0F0F}"/>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32240"/>
            <a:ext cx="9437013" cy="620078"/>
          </a:xfrm>
          <a:prstGeom prst="rect">
            <a:avLst/>
          </a:prstGeom>
          <a:noFill/>
          <a:ln/>
        </p:spPr>
        <p:txBody>
          <a:bodyPr wrap="none" lIns="0" tIns="0" rIns="0" bIns="0" rtlCol="0" anchor="t"/>
          <a:lstStyle/>
          <a:p>
            <a:pPr marL="0" indent="0" algn="l">
              <a:lnSpc>
                <a:spcPts val="4850"/>
              </a:lnSpc>
              <a:buNone/>
            </a:pPr>
            <a:r>
              <a:rPr lang="en-US" sz="3900" b="1" dirty="0">
                <a:solidFill>
                  <a:srgbClr val="091C53"/>
                </a:solidFill>
                <a:latin typeface="Instrument Sans Semi Bold" pitchFamily="34" charset="0"/>
                <a:ea typeface="Instrument Sans Semi Bold" pitchFamily="34" charset="-122"/>
                <a:cs typeface="Instrument Sans Semi Bold" pitchFamily="34" charset="-120"/>
              </a:rPr>
              <a:t>Three Approaches to Indoor Localization</a:t>
            </a:r>
            <a:endParaRPr lang="en-US" sz="3900" b="1" dirty="0"/>
          </a:p>
        </p:txBody>
      </p:sp>
      <p:sp>
        <p:nvSpPr>
          <p:cNvPr id="3" name="Text 1"/>
          <p:cNvSpPr/>
          <p:nvPr/>
        </p:nvSpPr>
        <p:spPr>
          <a:xfrm>
            <a:off x="793790" y="2749153"/>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This study explores three fundamental methodologies for Indoor Positioning Systems (IPS), each addressing unique challenges in tracking mobile terminals within indoor environments. From geometric calculations to probabilistic matching and predictive modeling, these approaches form a comprehensive foundation for movement-tracking technologies.</a:t>
            </a:r>
            <a:endParaRPr lang="en-US" sz="1550" dirty="0"/>
          </a:p>
        </p:txBody>
      </p:sp>
      <p:sp>
        <p:nvSpPr>
          <p:cNvPr id="4" name="Shape 2"/>
          <p:cNvSpPr/>
          <p:nvPr/>
        </p:nvSpPr>
        <p:spPr>
          <a:xfrm>
            <a:off x="793790" y="3925014"/>
            <a:ext cx="4215289" cy="2572226"/>
          </a:xfrm>
          <a:prstGeom prst="roundRect">
            <a:avLst>
              <a:gd name="adj" fmla="val 6944"/>
            </a:avLst>
          </a:prstGeom>
          <a:solidFill>
            <a:srgbClr val="CEE6FD"/>
          </a:solidFill>
          <a:ln/>
        </p:spPr>
        <p:txBody>
          <a:bodyPr/>
          <a:lstStyle/>
          <a:p>
            <a:endParaRPr lang="en-US"/>
          </a:p>
        </p:txBody>
      </p:sp>
      <p:sp>
        <p:nvSpPr>
          <p:cNvPr id="5" name="Shape 3"/>
          <p:cNvSpPr/>
          <p:nvPr/>
        </p:nvSpPr>
        <p:spPr>
          <a:xfrm>
            <a:off x="992148" y="4123372"/>
            <a:ext cx="595313" cy="595313"/>
          </a:xfrm>
          <a:prstGeom prst="roundRect">
            <a:avLst>
              <a:gd name="adj" fmla="val 15358451"/>
            </a:avLst>
          </a:prstGeom>
          <a:solidFill>
            <a:srgbClr val="84C1FA"/>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55859" y="4286964"/>
            <a:ext cx="267891" cy="267891"/>
          </a:xfrm>
          <a:prstGeom prst="rect">
            <a:avLst/>
          </a:prstGeom>
        </p:spPr>
      </p:pic>
      <p:sp>
        <p:nvSpPr>
          <p:cNvPr id="7" name="Text 4"/>
          <p:cNvSpPr/>
          <p:nvPr/>
        </p:nvSpPr>
        <p:spPr>
          <a:xfrm>
            <a:off x="992148" y="491704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N-Lateration</a:t>
            </a:r>
            <a:endParaRPr lang="en-US" sz="1950" dirty="0"/>
          </a:p>
        </p:txBody>
      </p:sp>
      <p:sp>
        <p:nvSpPr>
          <p:cNvPr id="8" name="Text 5"/>
          <p:cNvSpPr/>
          <p:nvPr/>
        </p:nvSpPr>
        <p:spPr>
          <a:xfrm>
            <a:off x="992148" y="5346263"/>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Geometrical approach using distance measurements from multiple access points</a:t>
            </a:r>
            <a:endParaRPr lang="en-US" sz="1550" dirty="0"/>
          </a:p>
        </p:txBody>
      </p:sp>
      <p:sp>
        <p:nvSpPr>
          <p:cNvPr id="9" name="Shape 6"/>
          <p:cNvSpPr/>
          <p:nvPr/>
        </p:nvSpPr>
        <p:spPr>
          <a:xfrm>
            <a:off x="5207437" y="3925014"/>
            <a:ext cx="4215408" cy="2572226"/>
          </a:xfrm>
          <a:prstGeom prst="roundRect">
            <a:avLst>
              <a:gd name="adj" fmla="val 6944"/>
            </a:avLst>
          </a:prstGeom>
          <a:solidFill>
            <a:srgbClr val="CEE6FD"/>
          </a:solidFill>
          <a:ln/>
        </p:spPr>
        <p:txBody>
          <a:bodyPr/>
          <a:lstStyle/>
          <a:p>
            <a:endParaRPr lang="en-US"/>
          </a:p>
        </p:txBody>
      </p:sp>
      <p:sp>
        <p:nvSpPr>
          <p:cNvPr id="10" name="Shape 7"/>
          <p:cNvSpPr/>
          <p:nvPr/>
        </p:nvSpPr>
        <p:spPr>
          <a:xfrm>
            <a:off x="5405795" y="4123372"/>
            <a:ext cx="595313" cy="595313"/>
          </a:xfrm>
          <a:prstGeom prst="roundRect">
            <a:avLst>
              <a:gd name="adj" fmla="val 15358451"/>
            </a:avLst>
          </a:prstGeom>
          <a:solidFill>
            <a:srgbClr val="84C1FA"/>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69506" y="4286964"/>
            <a:ext cx="267891" cy="267891"/>
          </a:xfrm>
          <a:prstGeom prst="rect">
            <a:avLst/>
          </a:prstGeom>
        </p:spPr>
      </p:pic>
      <p:sp>
        <p:nvSpPr>
          <p:cNvPr id="12" name="Text 8"/>
          <p:cNvSpPr/>
          <p:nvPr/>
        </p:nvSpPr>
        <p:spPr>
          <a:xfrm>
            <a:off x="5405795" y="491704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Fingerprinting</a:t>
            </a:r>
            <a:endParaRPr lang="en-US" sz="1950" dirty="0"/>
          </a:p>
        </p:txBody>
      </p:sp>
      <p:sp>
        <p:nvSpPr>
          <p:cNvPr id="13" name="Text 9"/>
          <p:cNvSpPr/>
          <p:nvPr/>
        </p:nvSpPr>
        <p:spPr>
          <a:xfrm>
            <a:off x="5405795" y="5346263"/>
            <a:ext cx="3818692" cy="63507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Probabilistic method comparing radio signal patterns across locations</a:t>
            </a:r>
            <a:endParaRPr lang="en-US" sz="1550" dirty="0"/>
          </a:p>
        </p:txBody>
      </p:sp>
      <p:sp>
        <p:nvSpPr>
          <p:cNvPr id="14" name="Shape 10"/>
          <p:cNvSpPr/>
          <p:nvPr/>
        </p:nvSpPr>
        <p:spPr>
          <a:xfrm>
            <a:off x="9621203" y="3925014"/>
            <a:ext cx="4215289" cy="2572226"/>
          </a:xfrm>
          <a:prstGeom prst="roundRect">
            <a:avLst>
              <a:gd name="adj" fmla="val 6944"/>
            </a:avLst>
          </a:prstGeom>
          <a:solidFill>
            <a:srgbClr val="CEE6FD"/>
          </a:solidFill>
          <a:ln/>
        </p:spPr>
        <p:txBody>
          <a:bodyPr/>
          <a:lstStyle/>
          <a:p>
            <a:endParaRPr lang="en-US"/>
          </a:p>
        </p:txBody>
      </p:sp>
      <p:sp>
        <p:nvSpPr>
          <p:cNvPr id="15" name="Shape 11"/>
          <p:cNvSpPr/>
          <p:nvPr/>
        </p:nvSpPr>
        <p:spPr>
          <a:xfrm>
            <a:off x="9819561" y="4123372"/>
            <a:ext cx="595313" cy="595313"/>
          </a:xfrm>
          <a:prstGeom prst="roundRect">
            <a:avLst>
              <a:gd name="adj" fmla="val 15358451"/>
            </a:avLst>
          </a:prstGeom>
          <a:solidFill>
            <a:srgbClr val="84C1FA"/>
          </a:solidFill>
          <a:ln/>
        </p:spPr>
        <p:txBody>
          <a:bodyPr/>
          <a:lstStyle/>
          <a:p>
            <a:endParaRPr lang="en-US"/>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83272" y="4286964"/>
            <a:ext cx="267891" cy="267891"/>
          </a:xfrm>
          <a:prstGeom prst="rect">
            <a:avLst/>
          </a:prstGeom>
        </p:spPr>
      </p:pic>
      <p:sp>
        <p:nvSpPr>
          <p:cNvPr id="17" name="Text 12"/>
          <p:cNvSpPr/>
          <p:nvPr/>
        </p:nvSpPr>
        <p:spPr>
          <a:xfrm>
            <a:off x="9819561" y="491704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Markov Models</a:t>
            </a:r>
            <a:endParaRPr lang="en-US" sz="1950" dirty="0"/>
          </a:p>
        </p:txBody>
      </p:sp>
      <p:sp>
        <p:nvSpPr>
          <p:cNvPr id="18" name="Text 13"/>
          <p:cNvSpPr/>
          <p:nvPr/>
        </p:nvSpPr>
        <p:spPr>
          <a:xfrm>
            <a:off x="9819561" y="5346263"/>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Predictive algorithm learning movement patterns and building constraints</a:t>
            </a:r>
            <a:endParaRPr lang="en-US" sz="1550" dirty="0"/>
          </a:p>
        </p:txBody>
      </p:sp>
      <p:sp>
        <p:nvSpPr>
          <p:cNvPr id="19" name="Rectangle 18">
            <a:extLst>
              <a:ext uri="{FF2B5EF4-FFF2-40B4-BE49-F238E27FC236}">
                <a16:creationId xmlns:a16="http://schemas.microsoft.com/office/drawing/2014/main" id="{89C866C2-DAF8-6A69-4EC8-F91BD2CC69F2}"/>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69407"/>
            <a:ext cx="8761333" cy="620078"/>
          </a:xfrm>
          <a:prstGeom prst="rect">
            <a:avLst/>
          </a:prstGeom>
          <a:noFill/>
          <a:ln/>
        </p:spPr>
        <p:txBody>
          <a:bodyPr wrap="none" lIns="0" tIns="0" rIns="0" bIns="0" rtlCol="0" anchor="t"/>
          <a:lstStyle/>
          <a:p>
            <a:pPr marL="0" indent="0" algn="l">
              <a:lnSpc>
                <a:spcPts val="4850"/>
              </a:lnSpc>
              <a:buNone/>
            </a:pPr>
            <a:r>
              <a:rPr lang="en-US" sz="3900" b="1" dirty="0">
                <a:solidFill>
                  <a:srgbClr val="091C53"/>
                </a:solidFill>
                <a:latin typeface="Instrument Sans Semi Bold" pitchFamily="34" charset="0"/>
                <a:ea typeface="Instrument Sans Semi Bold" pitchFamily="34" charset="-122"/>
                <a:cs typeface="Instrument Sans Semi Bold" pitchFamily="34" charset="-120"/>
              </a:rPr>
              <a:t>N-Lateration (Geometrical Approach)</a:t>
            </a:r>
            <a:endParaRPr lang="en-US" sz="3900" b="1" dirty="0"/>
          </a:p>
        </p:txBody>
      </p:sp>
      <p:sp>
        <p:nvSpPr>
          <p:cNvPr id="3" name="Text 1"/>
          <p:cNvSpPr/>
          <p:nvPr/>
        </p:nvSpPr>
        <p:spPr>
          <a:xfrm>
            <a:off x="793790" y="2085499"/>
            <a:ext cx="3069669" cy="372070"/>
          </a:xfrm>
          <a:prstGeom prst="rect">
            <a:avLst/>
          </a:prstGeom>
          <a:noFill/>
          <a:ln/>
        </p:spPr>
        <p:txBody>
          <a:bodyPr wrap="none" lIns="0" tIns="0" rIns="0" bIns="0" rtlCol="0" anchor="t"/>
          <a:lstStyle/>
          <a:p>
            <a:pPr marL="0" indent="0" algn="l">
              <a:lnSpc>
                <a:spcPts val="2900"/>
              </a:lnSpc>
              <a:buNone/>
            </a:pPr>
            <a:r>
              <a:rPr lang="en-US" sz="2300" dirty="0">
                <a:solidFill>
                  <a:srgbClr val="091C53"/>
                </a:solidFill>
                <a:latin typeface="Instrument Sans Semi Bold" pitchFamily="34" charset="0"/>
                <a:ea typeface="Instrument Sans Semi Bold" pitchFamily="34" charset="-122"/>
                <a:cs typeface="Instrument Sans Semi Bold" pitchFamily="34" charset="-120"/>
              </a:rPr>
              <a:t>What is N-Lateration?</a:t>
            </a:r>
            <a:endParaRPr lang="en-US" sz="2300" dirty="0"/>
          </a:p>
        </p:txBody>
      </p:sp>
      <p:sp>
        <p:nvSpPr>
          <p:cNvPr id="4" name="Text 2"/>
          <p:cNvSpPr/>
          <p:nvPr/>
        </p:nvSpPr>
        <p:spPr>
          <a:xfrm>
            <a:off x="793790" y="2655927"/>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N-Lateration is a geometrical method used to determine the position of a Mobile Terminal by measuring its distance from multiple known Access Points. In reality, signal noise prevents perfect circle intersections, creating a "zone of uncertainty" that requires sophisticated algorithms to resolve.</a:t>
            </a:r>
            <a:endParaRPr lang="en-US" sz="1550" dirty="0"/>
          </a:p>
        </p:txBody>
      </p:sp>
      <p:sp>
        <p:nvSpPr>
          <p:cNvPr id="5" name="Text 3"/>
          <p:cNvSpPr/>
          <p:nvPr/>
        </p:nvSpPr>
        <p:spPr>
          <a:xfrm>
            <a:off x="793790" y="4124444"/>
            <a:ext cx="3288744" cy="372070"/>
          </a:xfrm>
          <a:prstGeom prst="rect">
            <a:avLst/>
          </a:prstGeom>
          <a:noFill/>
          <a:ln/>
        </p:spPr>
        <p:txBody>
          <a:bodyPr wrap="none" lIns="0" tIns="0" rIns="0" bIns="0" rtlCol="0" anchor="t"/>
          <a:lstStyle/>
          <a:p>
            <a:pPr marL="0" indent="0" algn="l">
              <a:lnSpc>
                <a:spcPts val="2900"/>
              </a:lnSpc>
              <a:buNone/>
            </a:pPr>
            <a:r>
              <a:rPr lang="en-US" sz="2300" dirty="0">
                <a:solidFill>
                  <a:srgbClr val="091C53"/>
                </a:solidFill>
                <a:latin typeface="Instrument Sans Semi Bold" pitchFamily="34" charset="0"/>
                <a:ea typeface="Instrument Sans Semi Bold" pitchFamily="34" charset="-122"/>
                <a:cs typeface="Instrument Sans Semi Bold" pitchFamily="34" charset="-120"/>
              </a:rPr>
              <a:t>How Grid Search Works</a:t>
            </a:r>
            <a:endParaRPr lang="en-US" sz="2300" dirty="0"/>
          </a:p>
        </p:txBody>
      </p:sp>
      <p:sp>
        <p:nvSpPr>
          <p:cNvPr id="6" name="Text 4"/>
          <p:cNvSpPr/>
          <p:nvPr/>
        </p:nvSpPr>
        <p:spPr>
          <a:xfrm>
            <a:off x="793790" y="4694873"/>
            <a:ext cx="7632025" cy="63507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The algorithm uses </a:t>
            </a:r>
            <a:r>
              <a:rPr lang="en-US" sz="1550" b="1" dirty="0">
                <a:solidFill>
                  <a:srgbClr val="1E3063"/>
                </a:solidFill>
                <a:latin typeface="Instrument Sans Medium" pitchFamily="34" charset="0"/>
                <a:ea typeface="Instrument Sans Medium" pitchFamily="34" charset="-122"/>
                <a:cs typeface="Instrument Sans Medium" pitchFamily="34" charset="-120"/>
              </a:rPr>
              <a:t>Grid Search</a:t>
            </a:r>
            <a:r>
              <a:rPr lang="en-US" sz="1550" dirty="0">
                <a:solidFill>
                  <a:srgbClr val="1E3063"/>
                </a:solidFill>
                <a:latin typeface="Instrument Sans Medium" pitchFamily="34" charset="0"/>
                <a:ea typeface="Instrument Sans Medium" pitchFamily="34" charset="-122"/>
                <a:cs typeface="Instrument Sans Medium" pitchFamily="34" charset="-120"/>
              </a:rPr>
              <a:t> paired with the </a:t>
            </a:r>
            <a:r>
              <a:rPr lang="en-US" sz="1550" b="1" dirty="0">
                <a:solidFill>
                  <a:srgbClr val="1E3063"/>
                </a:solidFill>
                <a:latin typeface="Instrument Sans Medium" pitchFamily="34" charset="0"/>
                <a:ea typeface="Instrument Sans Medium" pitchFamily="34" charset="-122"/>
                <a:cs typeface="Instrument Sans Medium" pitchFamily="34" charset="-120"/>
              </a:rPr>
              <a:t>Sum of Absolute Errors (SAE)</a:t>
            </a:r>
            <a:r>
              <a:rPr lang="en-US" sz="1550" dirty="0">
                <a:solidFill>
                  <a:srgbClr val="1E3063"/>
                </a:solidFill>
                <a:latin typeface="Instrument Sans Medium" pitchFamily="34" charset="0"/>
                <a:ea typeface="Instrument Sans Medium" pitchFamily="34" charset="-122"/>
                <a:cs typeface="Instrument Sans Medium" pitchFamily="34" charset="-120"/>
              </a:rPr>
              <a:t> to find the most likely position:</a:t>
            </a:r>
            <a:endParaRPr lang="en-US" sz="1550" dirty="0"/>
          </a:p>
        </p:txBody>
      </p:sp>
      <p:sp>
        <p:nvSpPr>
          <p:cNvPr id="7" name="Text 5"/>
          <p:cNvSpPr/>
          <p:nvPr/>
        </p:nvSpPr>
        <p:spPr>
          <a:xfrm>
            <a:off x="793790" y="5508546"/>
            <a:ext cx="7632025" cy="1478399"/>
          </a:xfrm>
          <a:prstGeom prst="rect">
            <a:avLst/>
          </a:prstGeom>
          <a:noFill/>
          <a:ln/>
        </p:spPr>
        <p:txBody>
          <a:bodyPr wrap="square" lIns="0" tIns="0" rIns="0" bIns="0" rtlCol="0" anchor="t"/>
          <a:lstStyle/>
          <a:p>
            <a:pPr marL="342900" indent="-342900" algn="l">
              <a:lnSpc>
                <a:spcPts val="2500"/>
              </a:lnSpc>
              <a:buSzPct val="100000"/>
              <a:buFont typeface="+mj-lt"/>
              <a:buAutoNum type="arabicPeriod"/>
            </a:pPr>
            <a:r>
              <a:rPr lang="en-US" sz="1550" dirty="0">
                <a:solidFill>
                  <a:srgbClr val="1E3063"/>
                </a:solidFill>
                <a:latin typeface="Instrument Sans Medium" pitchFamily="34" charset="0"/>
                <a:ea typeface="Instrument Sans Medium" pitchFamily="34" charset="-122"/>
                <a:cs typeface="Instrument Sans Medium" pitchFamily="34" charset="-120"/>
              </a:rPr>
              <a:t>The physical room is divided into a virtual grid of tiny points</a:t>
            </a:r>
            <a:endParaRPr lang="en-US" sz="1550" dirty="0"/>
          </a:p>
          <a:p>
            <a:pPr marL="342900" indent="-342900" algn="l">
              <a:lnSpc>
                <a:spcPts val="2500"/>
              </a:lnSpc>
              <a:buSzPct val="100000"/>
              <a:buFont typeface="+mj-lt"/>
              <a:buAutoNum type="arabicPeriod" startAt="2"/>
            </a:pPr>
            <a:r>
              <a:rPr lang="en-US" sz="1550" dirty="0">
                <a:solidFill>
                  <a:srgbClr val="1E3063"/>
                </a:solidFill>
                <a:latin typeface="Instrument Sans Medium" pitchFamily="34" charset="0"/>
                <a:ea typeface="Instrument Sans Medium" pitchFamily="34" charset="-122"/>
                <a:cs typeface="Instrument Sans Medium" pitchFamily="34" charset="-120"/>
              </a:rPr>
              <a:t>A hypothetical user is placed at every point, calculating expected distances</a:t>
            </a:r>
            <a:endParaRPr lang="en-US" sz="1550" dirty="0"/>
          </a:p>
          <a:p>
            <a:pPr marL="342900" indent="-342900" algn="l">
              <a:lnSpc>
                <a:spcPts val="2500"/>
              </a:lnSpc>
              <a:buSzPct val="100000"/>
              <a:buFont typeface="+mj-lt"/>
              <a:buAutoNum type="arabicPeriod" startAt="3"/>
            </a:pPr>
            <a:r>
              <a:rPr lang="en-US" sz="1550" dirty="0">
                <a:solidFill>
                  <a:srgbClr val="1E3063"/>
                </a:solidFill>
                <a:latin typeface="Instrument Sans Medium" pitchFamily="34" charset="0"/>
                <a:ea typeface="Instrument Sans Medium" pitchFamily="34" charset="-122"/>
                <a:cs typeface="Instrument Sans Medium" pitchFamily="34" charset="-120"/>
              </a:rPr>
              <a:t>SAE subtracts "guessed" distances from actual measured distances</a:t>
            </a:r>
            <a:endParaRPr lang="en-US" sz="1550" dirty="0"/>
          </a:p>
          <a:p>
            <a:pPr marL="342900" indent="-342900" algn="l">
              <a:lnSpc>
                <a:spcPts val="2500"/>
              </a:lnSpc>
              <a:buSzPct val="100000"/>
              <a:buFont typeface="+mj-lt"/>
              <a:buAutoNum type="arabicPeriod" startAt="4"/>
            </a:pPr>
            <a:r>
              <a:rPr lang="en-US" sz="1550" dirty="0">
                <a:solidFill>
                  <a:srgbClr val="1E3063"/>
                </a:solidFill>
                <a:latin typeface="Instrument Sans Medium" pitchFamily="34" charset="0"/>
                <a:ea typeface="Instrument Sans Medium" pitchFamily="34" charset="-122"/>
                <a:cs typeface="Instrument Sans Medium" pitchFamily="34" charset="-120"/>
              </a:rPr>
              <a:t>The point with the lowest total error is selected as the position</a:t>
            </a:r>
            <a:endParaRPr lang="en-US" sz="1550" dirty="0"/>
          </a:p>
        </p:txBody>
      </p:sp>
      <p:pic>
        <p:nvPicPr>
          <p:cNvPr id="8" name="Image 0" descr="preencoded.png"/>
          <p:cNvPicPr>
            <a:picLocks noChangeAspect="1"/>
          </p:cNvPicPr>
          <p:nvPr/>
        </p:nvPicPr>
        <p:blipFill>
          <a:blip r:embed="rId3"/>
          <a:stretch>
            <a:fillRect/>
          </a:stretch>
        </p:blipFill>
        <p:spPr>
          <a:xfrm>
            <a:off x="8917543" y="2110383"/>
            <a:ext cx="4926568" cy="4926568"/>
          </a:xfrm>
          <a:prstGeom prst="rect">
            <a:avLst/>
          </a:prstGeom>
        </p:spPr>
      </p:pic>
      <p:sp>
        <p:nvSpPr>
          <p:cNvPr id="9" name="Rectangle 8">
            <a:extLst>
              <a:ext uri="{FF2B5EF4-FFF2-40B4-BE49-F238E27FC236}">
                <a16:creationId xmlns:a16="http://schemas.microsoft.com/office/drawing/2014/main" id="{8ECEA896-A608-7B76-C6E9-C5AC5888226A}"/>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402449" y="451009"/>
            <a:ext cx="4178737" cy="310158"/>
          </a:xfrm>
          <a:prstGeom prst="rect">
            <a:avLst/>
          </a:prstGeom>
          <a:noFill/>
          <a:ln/>
        </p:spPr>
        <p:txBody>
          <a:bodyPr wrap="none" lIns="0" tIns="0" rIns="0" bIns="0" rtlCol="0" anchor="t"/>
          <a:lstStyle/>
          <a:p>
            <a:pPr marL="0" indent="0" algn="l">
              <a:lnSpc>
                <a:spcPts val="2400"/>
              </a:lnSpc>
              <a:buNone/>
            </a:pPr>
            <a:r>
              <a:rPr lang="en-US" sz="1950" b="1" dirty="0">
                <a:solidFill>
                  <a:srgbClr val="091C53"/>
                </a:solidFill>
                <a:latin typeface="Instrument Sans Semi Bold" pitchFamily="34" charset="0"/>
                <a:ea typeface="Instrument Sans Semi Bold" pitchFamily="34" charset="-122"/>
                <a:cs typeface="Instrument Sans Semi Bold" pitchFamily="34" charset="-120"/>
              </a:rPr>
              <a:t>N-Lateration Architecture &amp; Results</a:t>
            </a:r>
            <a:endParaRPr lang="en-US" sz="1950" b="1" dirty="0"/>
          </a:p>
        </p:txBody>
      </p:sp>
      <p:sp>
        <p:nvSpPr>
          <p:cNvPr id="3" name="Text 1"/>
          <p:cNvSpPr/>
          <p:nvPr/>
        </p:nvSpPr>
        <p:spPr>
          <a:xfrm>
            <a:off x="3402449" y="860346"/>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01</a:t>
            </a:r>
            <a:endParaRPr lang="en-US" sz="750" dirty="0"/>
          </a:p>
        </p:txBody>
      </p:sp>
      <p:sp>
        <p:nvSpPr>
          <p:cNvPr id="4" name="Shape 2"/>
          <p:cNvSpPr/>
          <p:nvPr/>
        </p:nvSpPr>
        <p:spPr>
          <a:xfrm>
            <a:off x="3402449" y="1013579"/>
            <a:ext cx="3887986" cy="15240"/>
          </a:xfrm>
          <a:prstGeom prst="rect">
            <a:avLst/>
          </a:prstGeom>
          <a:solidFill>
            <a:srgbClr val="84C1FA"/>
          </a:solidFill>
          <a:ln/>
        </p:spPr>
        <p:txBody>
          <a:bodyPr/>
          <a:lstStyle/>
          <a:p>
            <a:endParaRPr lang="en-US"/>
          </a:p>
        </p:txBody>
      </p:sp>
      <p:sp>
        <p:nvSpPr>
          <p:cNvPr id="5" name="Text 3"/>
          <p:cNvSpPr/>
          <p:nvPr/>
        </p:nvSpPr>
        <p:spPr>
          <a:xfrm>
            <a:off x="3402449" y="1093589"/>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Position &amp; Emitter</a:t>
            </a:r>
            <a:endParaRPr lang="en-US" sz="950" dirty="0"/>
          </a:p>
        </p:txBody>
      </p:sp>
      <p:sp>
        <p:nvSpPr>
          <p:cNvPr id="6" name="Text 4"/>
          <p:cNvSpPr/>
          <p:nvPr/>
        </p:nvSpPr>
        <p:spPr>
          <a:xfrm>
            <a:off x="3402449" y="1278374"/>
            <a:ext cx="3887986" cy="475774"/>
          </a:xfrm>
          <a:prstGeom prst="rect">
            <a:avLst/>
          </a:prstGeom>
          <a:noFill/>
          <a:ln/>
        </p:spPr>
        <p:txBody>
          <a:bodyPr wrap="square" lIns="0" tIns="0" rIns="0" bIns="0" rtlCol="0" anchor="t"/>
          <a:lstStyle/>
          <a:p>
            <a:pPr marL="0" indent="0" algn="l">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Function:</a:t>
            </a:r>
            <a:r>
              <a:rPr lang="en-US" sz="750" dirty="0">
                <a:solidFill>
                  <a:srgbClr val="1E3063"/>
                </a:solidFill>
                <a:latin typeface="Instrument Sans Medium" pitchFamily="34" charset="0"/>
                <a:ea typeface="Instrument Sans Medium" pitchFamily="34" charset="-122"/>
                <a:cs typeface="Instrument Sans Medium" pitchFamily="34" charset="-120"/>
              </a:rPr>
              <a:t> Position stores spatial x, y, z coordinates. Emitter wraps a Position and attaches a measured distance (converted from signal strength). </a:t>
            </a:r>
            <a:r>
              <a:rPr lang="en-US" sz="750" b="1" dirty="0">
                <a:solidFill>
                  <a:srgbClr val="1E3063"/>
                </a:solidFill>
                <a:latin typeface="Instrument Sans Medium" pitchFamily="34" charset="0"/>
                <a:ea typeface="Instrument Sans Medium" pitchFamily="34" charset="-122"/>
                <a:cs typeface="Instrument Sans Medium" pitchFamily="34" charset="-120"/>
              </a:rPr>
              <a:t>Impact:</a:t>
            </a:r>
            <a:r>
              <a:rPr lang="en-US" sz="750" dirty="0">
                <a:solidFill>
                  <a:srgbClr val="1E3063"/>
                </a:solidFill>
                <a:latin typeface="Instrument Sans Medium" pitchFamily="34" charset="0"/>
                <a:ea typeface="Instrument Sans Medium" pitchFamily="34" charset="-122"/>
                <a:cs typeface="Instrument Sans Medium" pitchFamily="34" charset="-120"/>
              </a:rPr>
              <a:t> Provides the core geometry data required to construct intersecting bounding boxes and radius constraints.</a:t>
            </a:r>
            <a:endParaRPr lang="en-US" sz="750" dirty="0"/>
          </a:p>
        </p:txBody>
      </p:sp>
      <p:sp>
        <p:nvSpPr>
          <p:cNvPr id="7" name="Text 5"/>
          <p:cNvSpPr/>
          <p:nvPr/>
        </p:nvSpPr>
        <p:spPr>
          <a:xfrm>
            <a:off x="7339965" y="860346"/>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02</a:t>
            </a:r>
            <a:endParaRPr lang="en-US" sz="750" dirty="0"/>
          </a:p>
        </p:txBody>
      </p:sp>
      <p:sp>
        <p:nvSpPr>
          <p:cNvPr id="8" name="Shape 6"/>
          <p:cNvSpPr/>
          <p:nvPr/>
        </p:nvSpPr>
        <p:spPr>
          <a:xfrm>
            <a:off x="7339965" y="1013579"/>
            <a:ext cx="3887986" cy="15240"/>
          </a:xfrm>
          <a:prstGeom prst="rect">
            <a:avLst/>
          </a:prstGeom>
          <a:solidFill>
            <a:srgbClr val="84C1FA"/>
          </a:solidFill>
          <a:ln/>
        </p:spPr>
        <p:txBody>
          <a:bodyPr/>
          <a:lstStyle/>
          <a:p>
            <a:endParaRPr lang="en-US"/>
          </a:p>
        </p:txBody>
      </p:sp>
      <p:sp>
        <p:nvSpPr>
          <p:cNvPr id="9" name="Text 7"/>
          <p:cNvSpPr/>
          <p:nvPr/>
        </p:nvSpPr>
        <p:spPr>
          <a:xfrm>
            <a:off x="7339965" y="1093589"/>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DatasetFactory</a:t>
            </a:r>
            <a:endParaRPr lang="en-US" sz="950" dirty="0"/>
          </a:p>
        </p:txBody>
      </p:sp>
      <p:sp>
        <p:nvSpPr>
          <p:cNvPr id="10" name="Text 8"/>
          <p:cNvSpPr/>
          <p:nvPr/>
        </p:nvSpPr>
        <p:spPr>
          <a:xfrm>
            <a:off x="7339965" y="1278374"/>
            <a:ext cx="3887986" cy="491014"/>
          </a:xfrm>
          <a:prstGeom prst="rect">
            <a:avLst/>
          </a:prstGeom>
          <a:noFill/>
          <a:ln/>
        </p:spPr>
        <p:txBody>
          <a:bodyPr wrap="square" lIns="0" tIns="0" rIns="0" bIns="0" rtlCol="0" anchor="t"/>
          <a:lstStyle/>
          <a:p>
            <a:pPr marL="0" indent="0" algn="l">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Function:</a:t>
            </a:r>
            <a:r>
              <a:rPr lang="en-US" sz="750" dirty="0">
                <a:solidFill>
                  <a:srgbClr val="1E3063"/>
                </a:solidFill>
                <a:latin typeface="Instrument Sans Medium" pitchFamily="34" charset="0"/>
                <a:ea typeface="Instrument Sans Medium" pitchFamily="34" charset="-122"/>
                <a:cs typeface="Instrument Sans Medium" pitchFamily="34" charset="-120"/>
              </a:rPr>
              <a:t> Initializes mock environments (</a:t>
            </a:r>
            <a:r>
              <a:rPr lang="en-US" sz="750" dirty="0">
                <a:solidFill>
                  <a:srgbClr val="1E3063"/>
                </a:solidFill>
                <a:highlight>
                  <a:srgbClr val="F2F2F2"/>
                </a:highlight>
                <a:latin typeface="Consolas" pitchFamily="34" charset="0"/>
                <a:ea typeface="Consolas" pitchFamily="34" charset="-122"/>
                <a:cs typeface="Consolas" pitchFamily="34" charset="-120"/>
              </a:rPr>
              <a:t>createTDDataset</a:t>
            </a:r>
            <a:r>
              <a:rPr lang="en-US" sz="750" dirty="0">
                <a:solidFill>
                  <a:srgbClr val="1E3063"/>
                </a:solidFill>
                <a:latin typeface="Instrument Sans Medium" pitchFamily="34" charset="0"/>
                <a:ea typeface="Instrument Sans Medium" pitchFamily="34" charset="-122"/>
                <a:cs typeface="Instrument Sans Medium" pitchFamily="34" charset="-120"/>
              </a:rPr>
              <a:t>, </a:t>
            </a:r>
            <a:r>
              <a:rPr lang="en-US" sz="750" dirty="0">
                <a:solidFill>
                  <a:srgbClr val="1E3063"/>
                </a:solidFill>
                <a:highlight>
                  <a:srgbClr val="F2F2F2"/>
                </a:highlight>
                <a:latin typeface="Consolas" pitchFamily="34" charset="0"/>
                <a:ea typeface="Consolas" pitchFamily="34" charset="-122"/>
                <a:cs typeface="Consolas" pitchFamily="34" charset="-120"/>
              </a:rPr>
              <a:t>createThreeEmitterDataset</a:t>
            </a:r>
            <a:r>
              <a:rPr lang="en-US" sz="750" dirty="0">
                <a:solidFill>
                  <a:srgbClr val="1E3063"/>
                </a:solidFill>
                <a:latin typeface="Instrument Sans Medium" pitchFamily="34" charset="0"/>
                <a:ea typeface="Instrument Sans Medium" pitchFamily="34" charset="-122"/>
                <a:cs typeface="Instrument Sans Medium" pitchFamily="34" charset="-120"/>
              </a:rPr>
              <a:t>), spawning arrays of Emitter configurations. </a:t>
            </a:r>
            <a:r>
              <a:rPr lang="en-US" sz="750" b="1" dirty="0">
                <a:solidFill>
                  <a:srgbClr val="1E3063"/>
                </a:solidFill>
                <a:latin typeface="Instrument Sans Medium" pitchFamily="34" charset="0"/>
                <a:ea typeface="Instrument Sans Medium" pitchFamily="34" charset="-122"/>
                <a:cs typeface="Instrument Sans Medium" pitchFamily="34" charset="-120"/>
              </a:rPr>
              <a:t>Impact:</a:t>
            </a:r>
            <a:r>
              <a:rPr lang="en-US" sz="750" dirty="0">
                <a:solidFill>
                  <a:srgbClr val="1E3063"/>
                </a:solidFill>
                <a:latin typeface="Instrument Sans Medium" pitchFamily="34" charset="0"/>
                <a:ea typeface="Instrument Sans Medium" pitchFamily="34" charset="-122"/>
                <a:cs typeface="Instrument Sans Medium" pitchFamily="34" charset="-120"/>
              </a:rPr>
              <a:t> Allows testing both the N = 4 and N = 3 scenarios instantly without live sensor hardware being present.</a:t>
            </a:r>
            <a:endParaRPr lang="en-US" sz="750" dirty="0"/>
          </a:p>
        </p:txBody>
      </p:sp>
      <p:sp>
        <p:nvSpPr>
          <p:cNvPr id="11" name="Text 9"/>
          <p:cNvSpPr/>
          <p:nvPr/>
        </p:nvSpPr>
        <p:spPr>
          <a:xfrm>
            <a:off x="3402449" y="1893332"/>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03</a:t>
            </a:r>
            <a:endParaRPr lang="en-US" sz="750" dirty="0"/>
          </a:p>
        </p:txBody>
      </p:sp>
      <p:sp>
        <p:nvSpPr>
          <p:cNvPr id="12" name="Shape 10"/>
          <p:cNvSpPr/>
          <p:nvPr/>
        </p:nvSpPr>
        <p:spPr>
          <a:xfrm>
            <a:off x="3402449" y="2046565"/>
            <a:ext cx="3887986" cy="15240"/>
          </a:xfrm>
          <a:prstGeom prst="rect">
            <a:avLst/>
          </a:prstGeom>
          <a:solidFill>
            <a:srgbClr val="84C1FA"/>
          </a:solidFill>
          <a:ln/>
        </p:spPr>
        <p:txBody>
          <a:bodyPr/>
          <a:lstStyle/>
          <a:p>
            <a:endParaRPr lang="en-US"/>
          </a:p>
        </p:txBody>
      </p:sp>
      <p:sp>
        <p:nvSpPr>
          <p:cNvPr id="13" name="Text 11"/>
          <p:cNvSpPr/>
          <p:nvPr/>
        </p:nvSpPr>
        <p:spPr>
          <a:xfrm>
            <a:off x="3402449" y="2126575"/>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PositioningInterface</a:t>
            </a:r>
            <a:endParaRPr lang="en-US" sz="950" dirty="0"/>
          </a:p>
        </p:txBody>
      </p:sp>
      <p:sp>
        <p:nvSpPr>
          <p:cNvPr id="14" name="Text 12"/>
          <p:cNvSpPr/>
          <p:nvPr/>
        </p:nvSpPr>
        <p:spPr>
          <a:xfrm>
            <a:off x="3402449" y="2311360"/>
            <a:ext cx="3887986" cy="364450"/>
          </a:xfrm>
          <a:prstGeom prst="rect">
            <a:avLst/>
          </a:prstGeom>
          <a:noFill/>
          <a:ln/>
        </p:spPr>
        <p:txBody>
          <a:bodyPr wrap="square" lIns="0" tIns="0" rIns="0" bIns="0" rtlCol="0" anchor="t"/>
          <a:lstStyle/>
          <a:p>
            <a:pPr marL="0" indent="0" algn="l">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Function:</a:t>
            </a:r>
            <a:r>
              <a:rPr lang="en-US" sz="750" dirty="0">
                <a:solidFill>
                  <a:srgbClr val="1E3063"/>
                </a:solidFill>
                <a:latin typeface="Instrument Sans Medium" pitchFamily="34" charset="0"/>
                <a:ea typeface="Instrument Sans Medium" pitchFamily="34" charset="-122"/>
                <a:cs typeface="Instrument Sans Medium" pitchFamily="34" charset="-120"/>
              </a:rPr>
              <a:t> Enforces a strict </a:t>
            </a:r>
            <a:r>
              <a:rPr lang="en-US" sz="750" dirty="0">
                <a:solidFill>
                  <a:srgbClr val="1E3063"/>
                </a:solidFill>
                <a:highlight>
                  <a:srgbClr val="F2F2F2"/>
                </a:highlight>
                <a:latin typeface="Consolas" pitchFamily="34" charset="0"/>
                <a:ea typeface="Consolas" pitchFamily="34" charset="-122"/>
                <a:cs typeface="Consolas" pitchFamily="34" charset="-120"/>
              </a:rPr>
              <a:t>compute(emitters, precision)</a:t>
            </a:r>
            <a:r>
              <a:rPr lang="en-US" sz="750" dirty="0">
                <a:solidFill>
                  <a:srgbClr val="1E3063"/>
                </a:solidFill>
                <a:latin typeface="Instrument Sans Medium" pitchFamily="34" charset="0"/>
                <a:ea typeface="Instrument Sans Medium" pitchFamily="34" charset="-122"/>
                <a:cs typeface="Instrument Sans Medium" pitchFamily="34" charset="-120"/>
              </a:rPr>
              <a:t> signature. </a:t>
            </a:r>
            <a:r>
              <a:rPr lang="en-US" sz="750" b="1" dirty="0">
                <a:solidFill>
                  <a:srgbClr val="1E3063"/>
                </a:solidFill>
                <a:latin typeface="Instrument Sans Medium" pitchFamily="34" charset="0"/>
                <a:ea typeface="Instrument Sans Medium" pitchFamily="34" charset="-122"/>
                <a:cs typeface="Instrument Sans Medium" pitchFamily="34" charset="-120"/>
              </a:rPr>
              <a:t>Impact:</a:t>
            </a:r>
            <a:r>
              <a:rPr lang="en-US" sz="750" dirty="0">
                <a:solidFill>
                  <a:srgbClr val="1E3063"/>
                </a:solidFill>
                <a:latin typeface="Instrument Sans Medium" pitchFamily="34" charset="0"/>
                <a:ea typeface="Instrument Sans Medium" pitchFamily="34" charset="-122"/>
                <a:cs typeface="Instrument Sans Medium" pitchFamily="34" charset="-120"/>
              </a:rPr>
              <a:t> Guarantees standard input and output (a Position) regardless of the specific mathematical solver used.</a:t>
            </a:r>
            <a:endParaRPr lang="en-US" sz="750" dirty="0"/>
          </a:p>
        </p:txBody>
      </p:sp>
      <p:sp>
        <p:nvSpPr>
          <p:cNvPr id="15" name="Text 13"/>
          <p:cNvSpPr/>
          <p:nvPr/>
        </p:nvSpPr>
        <p:spPr>
          <a:xfrm>
            <a:off x="7339965" y="1893332"/>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04</a:t>
            </a:r>
            <a:endParaRPr lang="en-US" sz="750" dirty="0"/>
          </a:p>
        </p:txBody>
      </p:sp>
      <p:sp>
        <p:nvSpPr>
          <p:cNvPr id="16" name="Shape 14"/>
          <p:cNvSpPr/>
          <p:nvPr/>
        </p:nvSpPr>
        <p:spPr>
          <a:xfrm>
            <a:off x="7339965" y="2046565"/>
            <a:ext cx="3887986" cy="15240"/>
          </a:xfrm>
          <a:prstGeom prst="rect">
            <a:avLst/>
          </a:prstGeom>
          <a:solidFill>
            <a:srgbClr val="84C1FA"/>
          </a:solidFill>
          <a:ln/>
        </p:spPr>
        <p:txBody>
          <a:bodyPr/>
          <a:lstStyle/>
          <a:p>
            <a:endParaRPr lang="en-US"/>
          </a:p>
        </p:txBody>
      </p:sp>
      <p:sp>
        <p:nvSpPr>
          <p:cNvPr id="17" name="Text 15"/>
          <p:cNvSpPr/>
          <p:nvPr/>
        </p:nvSpPr>
        <p:spPr>
          <a:xfrm>
            <a:off x="7339965" y="2126575"/>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GridSearchService</a:t>
            </a:r>
            <a:endParaRPr lang="en-US" sz="950" dirty="0"/>
          </a:p>
        </p:txBody>
      </p:sp>
      <p:sp>
        <p:nvSpPr>
          <p:cNvPr id="18" name="Text 16"/>
          <p:cNvSpPr/>
          <p:nvPr/>
        </p:nvSpPr>
        <p:spPr>
          <a:xfrm>
            <a:off x="7339965" y="2311360"/>
            <a:ext cx="3887986" cy="475774"/>
          </a:xfrm>
          <a:prstGeom prst="rect">
            <a:avLst/>
          </a:prstGeom>
          <a:noFill/>
          <a:ln/>
        </p:spPr>
        <p:txBody>
          <a:bodyPr wrap="square" lIns="0" tIns="0" rIns="0" bIns="0" rtlCol="0" anchor="t"/>
          <a:lstStyle/>
          <a:p>
            <a:pPr marL="0" indent="0" algn="l">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Function:</a:t>
            </a:r>
            <a:r>
              <a:rPr lang="en-US" sz="750" dirty="0">
                <a:solidFill>
                  <a:srgbClr val="1E3063"/>
                </a:solidFill>
                <a:latin typeface="Instrument Sans Medium" pitchFamily="34" charset="0"/>
                <a:ea typeface="Instrument Sans Medium" pitchFamily="34" charset="-122"/>
                <a:cs typeface="Instrument Sans Medium" pitchFamily="34" charset="-120"/>
              </a:rPr>
              <a:t> Implements the PositioningInterface to iterate a mesh of coordinates measuring Euclidean errors for minimum residual values. </a:t>
            </a:r>
            <a:r>
              <a:rPr lang="en-US" sz="750" b="1" dirty="0">
                <a:solidFill>
                  <a:srgbClr val="1E3063"/>
                </a:solidFill>
                <a:latin typeface="Instrument Sans Medium" pitchFamily="34" charset="0"/>
                <a:ea typeface="Instrument Sans Medium" pitchFamily="34" charset="-122"/>
                <a:cs typeface="Instrument Sans Medium" pitchFamily="34" charset="-120"/>
              </a:rPr>
              <a:t>Impact:</a:t>
            </a:r>
            <a:r>
              <a:rPr lang="en-US" sz="750" dirty="0">
                <a:solidFill>
                  <a:srgbClr val="1E3063"/>
                </a:solidFill>
                <a:latin typeface="Instrument Sans Medium" pitchFamily="34" charset="0"/>
                <a:ea typeface="Instrument Sans Medium" pitchFamily="34" charset="-122"/>
                <a:cs typeface="Instrument Sans Medium" pitchFamily="34" charset="-120"/>
              </a:rPr>
              <a:t> Provides robust geographic estimates under heavy noise mapping when traditional linear algorithms fail to perfectly intersect.</a:t>
            </a:r>
            <a:endParaRPr lang="en-US" sz="750" dirty="0"/>
          </a:p>
        </p:txBody>
      </p:sp>
      <p:sp>
        <p:nvSpPr>
          <p:cNvPr id="19" name="Text 17"/>
          <p:cNvSpPr/>
          <p:nvPr/>
        </p:nvSpPr>
        <p:spPr>
          <a:xfrm>
            <a:off x="3402449" y="291107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05</a:t>
            </a:r>
            <a:endParaRPr lang="en-US" sz="750" dirty="0"/>
          </a:p>
        </p:txBody>
      </p:sp>
      <p:sp>
        <p:nvSpPr>
          <p:cNvPr id="20" name="Shape 18"/>
          <p:cNvSpPr/>
          <p:nvPr/>
        </p:nvSpPr>
        <p:spPr>
          <a:xfrm>
            <a:off x="3402449" y="3064312"/>
            <a:ext cx="3887986" cy="15240"/>
          </a:xfrm>
          <a:prstGeom prst="rect">
            <a:avLst/>
          </a:prstGeom>
          <a:solidFill>
            <a:srgbClr val="84C1FA"/>
          </a:solidFill>
          <a:ln/>
        </p:spPr>
        <p:txBody>
          <a:bodyPr/>
          <a:lstStyle/>
          <a:p>
            <a:endParaRPr lang="en-US"/>
          </a:p>
        </p:txBody>
      </p:sp>
      <p:sp>
        <p:nvSpPr>
          <p:cNvPr id="21" name="Text 19"/>
          <p:cNvSpPr/>
          <p:nvPr/>
        </p:nvSpPr>
        <p:spPr>
          <a:xfrm>
            <a:off x="3402449" y="3144322"/>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NLaterationManager</a:t>
            </a:r>
            <a:endParaRPr lang="en-US" sz="950" dirty="0"/>
          </a:p>
        </p:txBody>
      </p:sp>
      <p:sp>
        <p:nvSpPr>
          <p:cNvPr id="22" name="Text 20"/>
          <p:cNvSpPr/>
          <p:nvPr/>
        </p:nvSpPr>
        <p:spPr>
          <a:xfrm>
            <a:off x="3402449" y="3329107"/>
            <a:ext cx="3887986" cy="356830"/>
          </a:xfrm>
          <a:prstGeom prst="rect">
            <a:avLst/>
          </a:prstGeom>
          <a:noFill/>
          <a:ln/>
        </p:spPr>
        <p:txBody>
          <a:bodyPr wrap="square" lIns="0" tIns="0" rIns="0" bIns="0" rtlCol="0" anchor="t"/>
          <a:lstStyle/>
          <a:p>
            <a:pPr marL="0" indent="0" algn="l">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Function:</a:t>
            </a:r>
            <a:r>
              <a:rPr lang="en-US" sz="750" dirty="0">
                <a:solidFill>
                  <a:srgbClr val="1E3063"/>
                </a:solidFill>
                <a:latin typeface="Instrument Sans Medium" pitchFamily="34" charset="0"/>
                <a:ea typeface="Instrument Sans Medium" pitchFamily="34" charset="-122"/>
                <a:cs typeface="Instrument Sans Medium" pitchFamily="34" charset="-120"/>
              </a:rPr>
              <a:t> Serves as the intermediary that binds the DatasetFactory to the algorithm (GridSearchService). </a:t>
            </a:r>
            <a:r>
              <a:rPr lang="en-US" sz="750" b="1" dirty="0">
                <a:solidFill>
                  <a:srgbClr val="1E3063"/>
                </a:solidFill>
                <a:latin typeface="Instrument Sans Medium" pitchFamily="34" charset="0"/>
                <a:ea typeface="Instrument Sans Medium" pitchFamily="34" charset="-122"/>
                <a:cs typeface="Instrument Sans Medium" pitchFamily="34" charset="-120"/>
              </a:rPr>
              <a:t>Impact:</a:t>
            </a:r>
            <a:r>
              <a:rPr lang="en-US" sz="750" dirty="0">
                <a:solidFill>
                  <a:srgbClr val="1E3063"/>
                </a:solidFill>
                <a:latin typeface="Instrument Sans Medium" pitchFamily="34" charset="0"/>
                <a:ea typeface="Instrument Sans Medium" pitchFamily="34" charset="-122"/>
                <a:cs typeface="Instrument Sans Medium" pitchFamily="34" charset="-120"/>
              </a:rPr>
              <a:t> Decouples the configuration logic from the HTTP requests, allowing standalone programmatic testing.</a:t>
            </a:r>
            <a:endParaRPr lang="en-US" sz="750" dirty="0"/>
          </a:p>
        </p:txBody>
      </p:sp>
      <p:sp>
        <p:nvSpPr>
          <p:cNvPr id="23" name="Text 21"/>
          <p:cNvSpPr/>
          <p:nvPr/>
        </p:nvSpPr>
        <p:spPr>
          <a:xfrm>
            <a:off x="7339965" y="291107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06</a:t>
            </a:r>
            <a:endParaRPr lang="en-US" sz="750" dirty="0"/>
          </a:p>
        </p:txBody>
      </p:sp>
      <p:sp>
        <p:nvSpPr>
          <p:cNvPr id="24" name="Shape 22"/>
          <p:cNvSpPr/>
          <p:nvPr/>
        </p:nvSpPr>
        <p:spPr>
          <a:xfrm>
            <a:off x="7339965" y="3064312"/>
            <a:ext cx="3887986" cy="15240"/>
          </a:xfrm>
          <a:prstGeom prst="rect">
            <a:avLst/>
          </a:prstGeom>
          <a:solidFill>
            <a:srgbClr val="84C1FA"/>
          </a:solidFill>
          <a:ln/>
        </p:spPr>
        <p:txBody>
          <a:bodyPr/>
          <a:lstStyle/>
          <a:p>
            <a:endParaRPr lang="en-US"/>
          </a:p>
        </p:txBody>
      </p:sp>
      <p:sp>
        <p:nvSpPr>
          <p:cNvPr id="25" name="Text 23"/>
          <p:cNvSpPr/>
          <p:nvPr/>
        </p:nvSpPr>
        <p:spPr>
          <a:xfrm>
            <a:off x="7339965" y="3144322"/>
            <a:ext cx="1258372" cy="155019"/>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PositioningController</a:t>
            </a:r>
            <a:endParaRPr lang="en-US" sz="950" dirty="0"/>
          </a:p>
        </p:txBody>
      </p:sp>
      <p:sp>
        <p:nvSpPr>
          <p:cNvPr id="26" name="Text 24"/>
          <p:cNvSpPr/>
          <p:nvPr/>
        </p:nvSpPr>
        <p:spPr>
          <a:xfrm>
            <a:off x="7339965" y="3329107"/>
            <a:ext cx="3887986" cy="356830"/>
          </a:xfrm>
          <a:prstGeom prst="rect">
            <a:avLst/>
          </a:prstGeom>
          <a:noFill/>
          <a:ln/>
        </p:spPr>
        <p:txBody>
          <a:bodyPr wrap="square" lIns="0" tIns="0" rIns="0" bIns="0" rtlCol="0" anchor="t"/>
          <a:lstStyle/>
          <a:p>
            <a:pPr marL="0" indent="0" algn="l">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Function:</a:t>
            </a:r>
            <a:r>
              <a:rPr lang="en-US" sz="750" dirty="0">
                <a:solidFill>
                  <a:srgbClr val="1E3063"/>
                </a:solidFill>
                <a:latin typeface="Instrument Sans Medium" pitchFamily="34" charset="0"/>
                <a:ea typeface="Instrument Sans Medium" pitchFamily="34" charset="-122"/>
                <a:cs typeface="Instrument Sans Medium" pitchFamily="34" charset="-120"/>
              </a:rPr>
              <a:t> The web entry point. Parses the user request and renders the Canvas graphic output using the computed results. </a:t>
            </a:r>
            <a:r>
              <a:rPr lang="en-US" sz="750" b="1" dirty="0">
                <a:solidFill>
                  <a:srgbClr val="1E3063"/>
                </a:solidFill>
                <a:latin typeface="Instrument Sans Medium" pitchFamily="34" charset="0"/>
                <a:ea typeface="Instrument Sans Medium" pitchFamily="34" charset="-122"/>
                <a:cs typeface="Instrument Sans Medium" pitchFamily="34" charset="-120"/>
              </a:rPr>
              <a:t>Impact:</a:t>
            </a:r>
            <a:r>
              <a:rPr lang="en-US" sz="750" dirty="0">
                <a:solidFill>
                  <a:srgbClr val="1E3063"/>
                </a:solidFill>
                <a:latin typeface="Instrument Sans Medium" pitchFamily="34" charset="0"/>
                <a:ea typeface="Instrument Sans Medium" pitchFamily="34" charset="-122"/>
                <a:cs typeface="Instrument Sans Medium" pitchFamily="34" charset="-120"/>
              </a:rPr>
              <a:t> Provides the HTTP interface for N-Lateration operations.</a:t>
            </a:r>
            <a:endParaRPr lang="en-US" sz="750" dirty="0"/>
          </a:p>
        </p:txBody>
      </p:sp>
      <p:pic>
        <p:nvPicPr>
          <p:cNvPr id="27" name="Image 0" descr="preencoded.png"/>
          <p:cNvPicPr>
            <a:picLocks noChangeAspect="1"/>
          </p:cNvPicPr>
          <p:nvPr/>
        </p:nvPicPr>
        <p:blipFill>
          <a:blip r:embed="rId3"/>
          <a:stretch>
            <a:fillRect/>
          </a:stretch>
        </p:blipFill>
        <p:spPr>
          <a:xfrm>
            <a:off x="3402449" y="3871793"/>
            <a:ext cx="3398520" cy="3687366"/>
          </a:xfrm>
          <a:prstGeom prst="rect">
            <a:avLst/>
          </a:prstGeom>
        </p:spPr>
      </p:pic>
      <p:sp>
        <p:nvSpPr>
          <p:cNvPr id="28" name="Text 25"/>
          <p:cNvSpPr/>
          <p:nvPr/>
        </p:nvSpPr>
        <p:spPr>
          <a:xfrm>
            <a:off x="3402449" y="7614880"/>
            <a:ext cx="3791783" cy="118943"/>
          </a:xfrm>
          <a:prstGeom prst="rect">
            <a:avLst/>
          </a:prstGeom>
          <a:noFill/>
          <a:ln/>
        </p:spPr>
        <p:txBody>
          <a:bodyPr wrap="none" lIns="0" tIns="0" rIns="0" bIns="0" rtlCol="0" anchor="t"/>
          <a:lstStyle/>
          <a:p>
            <a:pPr marL="0" indent="0" algn="l">
              <a:lnSpc>
                <a:spcPts val="900"/>
              </a:lnSpc>
              <a:buNone/>
            </a:pPr>
            <a:r>
              <a:rPr lang="en-US" sz="750" i="1" dirty="0">
                <a:solidFill>
                  <a:srgbClr val="1E3063"/>
                </a:solidFill>
                <a:latin typeface="Instrument Sans Medium" pitchFamily="34" charset="0"/>
                <a:ea typeface="Instrument Sans Medium" pitchFamily="34" charset="-122"/>
                <a:cs typeface="Instrument Sans Medium" pitchFamily="34" charset="-120"/>
              </a:rPr>
              <a:t>Figure 1: UML Class Diagram for N-Lateration Architecture</a:t>
            </a:r>
            <a:endParaRPr lang="en-US" sz="750" dirty="0"/>
          </a:p>
        </p:txBody>
      </p:sp>
      <p:pic>
        <p:nvPicPr>
          <p:cNvPr id="29" name="Image 1" descr="preencoded.png"/>
          <p:cNvPicPr>
            <a:picLocks noChangeAspect="1"/>
          </p:cNvPicPr>
          <p:nvPr/>
        </p:nvPicPr>
        <p:blipFill>
          <a:blip r:embed="rId4"/>
          <a:stretch>
            <a:fillRect/>
          </a:stretch>
        </p:blipFill>
        <p:spPr>
          <a:xfrm>
            <a:off x="7443788" y="3871793"/>
            <a:ext cx="3791783" cy="2995732"/>
          </a:xfrm>
          <a:prstGeom prst="rect">
            <a:avLst/>
          </a:prstGeom>
        </p:spPr>
      </p:pic>
      <p:sp>
        <p:nvSpPr>
          <p:cNvPr id="30" name="Text 26"/>
          <p:cNvSpPr/>
          <p:nvPr/>
        </p:nvSpPr>
        <p:spPr>
          <a:xfrm>
            <a:off x="7443788" y="6923246"/>
            <a:ext cx="3791783" cy="118943"/>
          </a:xfrm>
          <a:prstGeom prst="rect">
            <a:avLst/>
          </a:prstGeom>
          <a:noFill/>
          <a:ln/>
        </p:spPr>
        <p:txBody>
          <a:bodyPr wrap="none" lIns="0" tIns="0" rIns="0" bIns="0" rtlCol="0" anchor="t"/>
          <a:lstStyle/>
          <a:p>
            <a:pPr marL="0" indent="0" algn="l">
              <a:lnSpc>
                <a:spcPts val="900"/>
              </a:lnSpc>
              <a:buNone/>
            </a:pPr>
            <a:r>
              <a:rPr lang="en-US" sz="750" i="1" dirty="0">
                <a:solidFill>
                  <a:srgbClr val="1E3063"/>
                </a:solidFill>
                <a:latin typeface="Instrument Sans Medium" pitchFamily="34" charset="0"/>
                <a:ea typeface="Instrument Sans Medium" pitchFamily="34" charset="-122"/>
                <a:cs typeface="Instrument Sans Medium" pitchFamily="34" charset="-120"/>
              </a:rPr>
              <a:t>Figure 2: Visual outcome of N-Lateration tracking with 4 emitters</a:t>
            </a:r>
            <a:endParaRPr lang="en-US" sz="750" dirty="0"/>
          </a:p>
        </p:txBody>
      </p:sp>
      <p:sp>
        <p:nvSpPr>
          <p:cNvPr id="31" name="Rectangle 30">
            <a:extLst>
              <a:ext uri="{FF2B5EF4-FFF2-40B4-BE49-F238E27FC236}">
                <a16:creationId xmlns:a16="http://schemas.microsoft.com/office/drawing/2014/main" id="{E5932040-D231-47C3-0F41-4AAEF7C0873E}"/>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93658" y="679847"/>
            <a:ext cx="4335542" cy="541853"/>
          </a:xfrm>
          <a:prstGeom prst="rect">
            <a:avLst/>
          </a:prstGeom>
          <a:noFill/>
          <a:ln/>
        </p:spPr>
        <p:txBody>
          <a:bodyPr wrap="none" lIns="0" tIns="0" rIns="0" bIns="0" rtlCol="0" anchor="t"/>
          <a:lstStyle/>
          <a:p>
            <a:pPr marL="0" indent="0" algn="l">
              <a:lnSpc>
                <a:spcPts val="4250"/>
              </a:lnSpc>
              <a:buNone/>
            </a:pPr>
            <a:r>
              <a:rPr lang="en-US" sz="3400" b="1" dirty="0">
                <a:solidFill>
                  <a:srgbClr val="091C53"/>
                </a:solidFill>
                <a:latin typeface="Instrument Sans Semi Bold" pitchFamily="34" charset="0"/>
                <a:ea typeface="Instrument Sans Semi Bold" pitchFamily="34" charset="-122"/>
                <a:cs typeface="Instrument Sans Semi Bold" pitchFamily="34" charset="-120"/>
              </a:rPr>
              <a:t>Fingerprinting</a:t>
            </a:r>
            <a:endParaRPr lang="en-US" sz="3400" b="1" dirty="0"/>
          </a:p>
        </p:txBody>
      </p:sp>
      <p:sp>
        <p:nvSpPr>
          <p:cNvPr id="4" name="Text 1"/>
          <p:cNvSpPr/>
          <p:nvPr/>
        </p:nvSpPr>
        <p:spPr>
          <a:xfrm>
            <a:off x="693658" y="1282303"/>
            <a:ext cx="5025628" cy="541853"/>
          </a:xfrm>
          <a:prstGeom prst="rect">
            <a:avLst/>
          </a:prstGeom>
          <a:noFill/>
          <a:ln/>
        </p:spPr>
        <p:txBody>
          <a:bodyPr wrap="none" lIns="0" tIns="0" rIns="0" bIns="0" rtlCol="0" anchor="t"/>
          <a:lstStyle/>
          <a:p>
            <a:pPr marL="0" indent="0" algn="l">
              <a:lnSpc>
                <a:spcPts val="4250"/>
              </a:lnSpc>
              <a:buNone/>
            </a:pPr>
            <a:r>
              <a:rPr lang="en-US" sz="3400" b="1" dirty="0">
                <a:solidFill>
                  <a:srgbClr val="091C53"/>
                </a:solidFill>
                <a:latin typeface="Instrument Sans Semi Bold" pitchFamily="34" charset="0"/>
                <a:ea typeface="Instrument Sans Semi Bold" pitchFamily="34" charset="-122"/>
                <a:cs typeface="Instrument Sans Semi Bold" pitchFamily="34" charset="-120"/>
              </a:rPr>
              <a:t>(Probabilistic Approach)</a:t>
            </a:r>
            <a:endParaRPr lang="en-US" sz="3400" b="1" dirty="0"/>
          </a:p>
        </p:txBody>
      </p:sp>
      <p:sp>
        <p:nvSpPr>
          <p:cNvPr id="5" name="Text 2"/>
          <p:cNvSpPr/>
          <p:nvPr/>
        </p:nvSpPr>
        <p:spPr>
          <a:xfrm>
            <a:off x="693658" y="1884759"/>
            <a:ext cx="3652004" cy="325160"/>
          </a:xfrm>
          <a:prstGeom prst="rect">
            <a:avLst/>
          </a:prstGeom>
          <a:noFill/>
          <a:ln/>
        </p:spPr>
        <p:txBody>
          <a:bodyPr wrap="none" lIns="0" tIns="0" rIns="0" bIns="0" rtlCol="0" anchor="t"/>
          <a:lstStyle/>
          <a:p>
            <a:pPr marL="0" indent="0" algn="l">
              <a:lnSpc>
                <a:spcPts val="255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Understanding Fingerprinting</a:t>
            </a:r>
            <a:endParaRPr lang="en-US" sz="2000" dirty="0"/>
          </a:p>
        </p:txBody>
      </p:sp>
      <p:sp>
        <p:nvSpPr>
          <p:cNvPr id="6" name="Text 3"/>
          <p:cNvSpPr/>
          <p:nvPr/>
        </p:nvSpPr>
        <p:spPr>
          <a:xfrm>
            <a:off x="693658" y="2437209"/>
            <a:ext cx="7756684" cy="780098"/>
          </a:xfrm>
          <a:prstGeom prst="rect">
            <a:avLst/>
          </a:prstGeom>
          <a:noFill/>
          <a:ln/>
        </p:spPr>
        <p:txBody>
          <a:bodyPr wrap="square" lIns="0" tIns="0" rIns="0" bIns="0" rtlCol="0" anchor="t"/>
          <a:lstStyle/>
          <a:p>
            <a:pPr marL="0" indent="0" algn="l">
              <a:lnSpc>
                <a:spcPts val="2000"/>
              </a:lnSpc>
              <a:buNone/>
            </a:pPr>
            <a:r>
              <a:rPr lang="en-US" sz="1350" dirty="0">
                <a:solidFill>
                  <a:srgbClr val="1E3063"/>
                </a:solidFill>
                <a:latin typeface="Instrument Sans Medium" pitchFamily="34" charset="0"/>
                <a:ea typeface="Instrument Sans Medium" pitchFamily="34" charset="-122"/>
                <a:cs typeface="Instrument Sans Medium" pitchFamily="34" charset="-120"/>
              </a:rPr>
              <a:t>Fingerprinting acknowledges physical layout interference by taking a mathematical "photograph" of radio signals in a room to look for similarities. Rather than calculating geometric distances, this method compares signal patterns to identify location.</a:t>
            </a:r>
            <a:endParaRPr lang="en-US" sz="1350" dirty="0"/>
          </a:p>
        </p:txBody>
      </p:sp>
      <p:pic>
        <p:nvPicPr>
          <p:cNvPr id="7" name="Image 1" descr="preencoded.png"/>
          <p:cNvPicPr>
            <a:picLocks noChangeAspect="1"/>
          </p:cNvPicPr>
          <p:nvPr/>
        </p:nvPicPr>
        <p:blipFill>
          <a:blip r:embed="rId4"/>
          <a:stretch>
            <a:fillRect/>
          </a:stretch>
        </p:blipFill>
        <p:spPr>
          <a:xfrm>
            <a:off x="693658" y="3387685"/>
            <a:ext cx="867013" cy="1040487"/>
          </a:xfrm>
          <a:prstGeom prst="rect">
            <a:avLst/>
          </a:prstGeom>
        </p:spPr>
      </p:pic>
      <p:sp>
        <p:nvSpPr>
          <p:cNvPr id="8" name="Text 4"/>
          <p:cNvSpPr/>
          <p:nvPr/>
        </p:nvSpPr>
        <p:spPr>
          <a:xfrm>
            <a:off x="1712119" y="3561040"/>
            <a:ext cx="2167771" cy="270986"/>
          </a:xfrm>
          <a:prstGeom prst="rect">
            <a:avLst/>
          </a:prstGeom>
          <a:noFill/>
          <a:ln/>
        </p:spPr>
        <p:txBody>
          <a:bodyPr wrap="none" lIns="0" tIns="0" rIns="0" bIns="0" rtlCol="0" anchor="t"/>
          <a:lstStyle/>
          <a:p>
            <a:pPr marL="0" indent="0" algn="l">
              <a:lnSpc>
                <a:spcPts val="2100"/>
              </a:lnSpc>
              <a:buNone/>
            </a:pPr>
            <a:r>
              <a:rPr lang="en-US" sz="1700" dirty="0">
                <a:solidFill>
                  <a:srgbClr val="1E3063"/>
                </a:solidFill>
                <a:latin typeface="Instrument Sans Semi Bold" pitchFamily="34" charset="0"/>
                <a:ea typeface="Instrument Sans Semi Bold" pitchFamily="34" charset="-122"/>
                <a:cs typeface="Instrument Sans Semi Bold" pitchFamily="34" charset="-120"/>
              </a:rPr>
              <a:t>The Radio Map</a:t>
            </a:r>
            <a:endParaRPr lang="en-US" sz="1700" dirty="0"/>
          </a:p>
        </p:txBody>
      </p:sp>
      <p:sp>
        <p:nvSpPr>
          <p:cNvPr id="9" name="Text 5"/>
          <p:cNvSpPr/>
          <p:nvPr/>
        </p:nvSpPr>
        <p:spPr>
          <a:xfrm>
            <a:off x="1712119" y="3922871"/>
            <a:ext cx="6738223" cy="260033"/>
          </a:xfrm>
          <a:prstGeom prst="rect">
            <a:avLst/>
          </a:prstGeom>
          <a:noFill/>
          <a:ln/>
        </p:spPr>
        <p:txBody>
          <a:bodyPr wrap="none" lIns="0" tIns="0" rIns="0" bIns="0" rtlCol="0" anchor="t"/>
          <a:lstStyle/>
          <a:p>
            <a:pPr marL="0" indent="0" algn="l">
              <a:lnSpc>
                <a:spcPts val="2000"/>
              </a:lnSpc>
              <a:buNone/>
            </a:pPr>
            <a:r>
              <a:rPr lang="en-US" sz="1350" dirty="0">
                <a:solidFill>
                  <a:srgbClr val="1E3063"/>
                </a:solidFill>
                <a:latin typeface="Instrument Sans Medium" pitchFamily="34" charset="0"/>
                <a:ea typeface="Instrument Sans Medium" pitchFamily="34" charset="-122"/>
                <a:cs typeface="Instrument Sans Medium" pitchFamily="34" charset="-120"/>
              </a:rPr>
              <a:t>Stored grid of "Radio Signatures" across the physical space</a:t>
            </a:r>
            <a:endParaRPr lang="en-US" sz="1350" dirty="0"/>
          </a:p>
        </p:txBody>
      </p:sp>
      <p:pic>
        <p:nvPicPr>
          <p:cNvPr id="10" name="Image 2" descr="preencoded.png"/>
          <p:cNvPicPr>
            <a:picLocks noChangeAspect="1"/>
          </p:cNvPicPr>
          <p:nvPr/>
        </p:nvPicPr>
        <p:blipFill>
          <a:blip r:embed="rId5"/>
          <a:stretch>
            <a:fillRect/>
          </a:stretch>
        </p:blipFill>
        <p:spPr>
          <a:xfrm>
            <a:off x="693658" y="4428173"/>
            <a:ext cx="867013" cy="1040487"/>
          </a:xfrm>
          <a:prstGeom prst="rect">
            <a:avLst/>
          </a:prstGeom>
        </p:spPr>
      </p:pic>
      <p:sp>
        <p:nvSpPr>
          <p:cNvPr id="11" name="Text 6"/>
          <p:cNvSpPr/>
          <p:nvPr/>
        </p:nvSpPr>
        <p:spPr>
          <a:xfrm>
            <a:off x="1712119" y="4601528"/>
            <a:ext cx="2167771" cy="270986"/>
          </a:xfrm>
          <a:prstGeom prst="rect">
            <a:avLst/>
          </a:prstGeom>
          <a:noFill/>
          <a:ln/>
        </p:spPr>
        <p:txBody>
          <a:bodyPr wrap="none" lIns="0" tIns="0" rIns="0" bIns="0" rtlCol="0" anchor="t"/>
          <a:lstStyle/>
          <a:p>
            <a:pPr marL="0" indent="0" algn="l">
              <a:lnSpc>
                <a:spcPts val="2100"/>
              </a:lnSpc>
              <a:buNone/>
            </a:pPr>
            <a:r>
              <a:rPr lang="en-US" sz="1700" dirty="0">
                <a:solidFill>
                  <a:srgbClr val="1E3063"/>
                </a:solidFill>
                <a:latin typeface="Instrument Sans Semi Bold" pitchFamily="34" charset="0"/>
                <a:ea typeface="Instrument Sans Semi Bold" pitchFamily="34" charset="-122"/>
                <a:cs typeface="Instrument Sans Semi Bold" pitchFamily="34" charset="-120"/>
              </a:rPr>
              <a:t>Signal Distance</a:t>
            </a:r>
            <a:endParaRPr lang="en-US" sz="1700" dirty="0"/>
          </a:p>
        </p:txBody>
      </p:sp>
      <p:sp>
        <p:nvSpPr>
          <p:cNvPr id="12" name="Text 7"/>
          <p:cNvSpPr/>
          <p:nvPr/>
        </p:nvSpPr>
        <p:spPr>
          <a:xfrm>
            <a:off x="1712119" y="4963358"/>
            <a:ext cx="6738223" cy="260033"/>
          </a:xfrm>
          <a:prstGeom prst="rect">
            <a:avLst/>
          </a:prstGeom>
          <a:noFill/>
          <a:ln/>
        </p:spPr>
        <p:txBody>
          <a:bodyPr wrap="none" lIns="0" tIns="0" rIns="0" bIns="0" rtlCol="0" anchor="t"/>
          <a:lstStyle/>
          <a:p>
            <a:pPr marL="0" indent="0" algn="l">
              <a:lnSpc>
                <a:spcPts val="2000"/>
              </a:lnSpc>
              <a:buNone/>
            </a:pPr>
            <a:r>
              <a:rPr lang="en-US" sz="1350" dirty="0">
                <a:solidFill>
                  <a:srgbClr val="1E3063"/>
                </a:solidFill>
                <a:latin typeface="Instrument Sans Medium" pitchFamily="34" charset="0"/>
                <a:ea typeface="Instrument Sans Medium" pitchFamily="34" charset="-122"/>
                <a:cs typeface="Instrument Sans Medium" pitchFamily="34" charset="-120"/>
              </a:rPr>
              <a:t>Compares live readings using Euclidean signal distance</a:t>
            </a:r>
            <a:endParaRPr lang="en-US" sz="1350" dirty="0"/>
          </a:p>
        </p:txBody>
      </p:sp>
      <p:pic>
        <p:nvPicPr>
          <p:cNvPr id="13" name="Image 3" descr="preencoded.png"/>
          <p:cNvPicPr>
            <a:picLocks noChangeAspect="1"/>
          </p:cNvPicPr>
          <p:nvPr/>
        </p:nvPicPr>
        <p:blipFill>
          <a:blip r:embed="rId6"/>
          <a:stretch>
            <a:fillRect/>
          </a:stretch>
        </p:blipFill>
        <p:spPr>
          <a:xfrm>
            <a:off x="693658" y="5468660"/>
            <a:ext cx="867013" cy="1040487"/>
          </a:xfrm>
          <a:prstGeom prst="rect">
            <a:avLst/>
          </a:prstGeom>
        </p:spPr>
      </p:pic>
      <p:sp>
        <p:nvSpPr>
          <p:cNvPr id="14" name="Text 8"/>
          <p:cNvSpPr/>
          <p:nvPr/>
        </p:nvSpPr>
        <p:spPr>
          <a:xfrm>
            <a:off x="1712119" y="5642015"/>
            <a:ext cx="2167771" cy="270986"/>
          </a:xfrm>
          <a:prstGeom prst="rect">
            <a:avLst/>
          </a:prstGeom>
          <a:noFill/>
          <a:ln/>
        </p:spPr>
        <p:txBody>
          <a:bodyPr wrap="none" lIns="0" tIns="0" rIns="0" bIns="0" rtlCol="0" anchor="t"/>
          <a:lstStyle/>
          <a:p>
            <a:pPr marL="0" indent="0" algn="l">
              <a:lnSpc>
                <a:spcPts val="2100"/>
              </a:lnSpc>
              <a:buNone/>
            </a:pPr>
            <a:r>
              <a:rPr lang="en-US" sz="1700" dirty="0">
                <a:solidFill>
                  <a:srgbClr val="1E3063"/>
                </a:solidFill>
                <a:latin typeface="Instrument Sans Semi Bold" pitchFamily="34" charset="0"/>
                <a:ea typeface="Instrument Sans Semi Bold" pitchFamily="34" charset="-122"/>
                <a:cs typeface="Instrument Sans Semi Bold" pitchFamily="34" charset="-120"/>
              </a:rPr>
              <a:t>K-Nearest Selection</a:t>
            </a:r>
            <a:endParaRPr lang="en-US" sz="1700" dirty="0"/>
          </a:p>
        </p:txBody>
      </p:sp>
      <p:sp>
        <p:nvSpPr>
          <p:cNvPr id="15" name="Text 9"/>
          <p:cNvSpPr/>
          <p:nvPr/>
        </p:nvSpPr>
        <p:spPr>
          <a:xfrm>
            <a:off x="1712119" y="6003846"/>
            <a:ext cx="6738223" cy="260033"/>
          </a:xfrm>
          <a:prstGeom prst="rect">
            <a:avLst/>
          </a:prstGeom>
          <a:noFill/>
          <a:ln/>
        </p:spPr>
        <p:txBody>
          <a:bodyPr wrap="none" lIns="0" tIns="0" rIns="0" bIns="0" rtlCol="0" anchor="t"/>
          <a:lstStyle/>
          <a:p>
            <a:pPr marL="0" indent="0" algn="l">
              <a:lnSpc>
                <a:spcPts val="2000"/>
              </a:lnSpc>
              <a:buNone/>
            </a:pPr>
            <a:r>
              <a:rPr lang="en-US" sz="1350" dirty="0">
                <a:solidFill>
                  <a:srgbClr val="1E3063"/>
                </a:solidFill>
                <a:latin typeface="Instrument Sans Medium" pitchFamily="34" charset="0"/>
                <a:ea typeface="Instrument Sans Medium" pitchFamily="34" charset="-122"/>
                <a:cs typeface="Instrument Sans Medium" pitchFamily="34" charset="-120"/>
              </a:rPr>
              <a:t>Ranks cells by similarity and selects top K matches</a:t>
            </a:r>
            <a:endParaRPr lang="en-US" sz="1350" dirty="0"/>
          </a:p>
        </p:txBody>
      </p:sp>
      <p:pic>
        <p:nvPicPr>
          <p:cNvPr id="16" name="Image 4" descr="preencoded.png"/>
          <p:cNvPicPr>
            <a:picLocks noChangeAspect="1"/>
          </p:cNvPicPr>
          <p:nvPr/>
        </p:nvPicPr>
        <p:blipFill>
          <a:blip r:embed="rId7"/>
          <a:stretch>
            <a:fillRect/>
          </a:stretch>
        </p:blipFill>
        <p:spPr>
          <a:xfrm>
            <a:off x="693658" y="6509147"/>
            <a:ext cx="867013" cy="1040487"/>
          </a:xfrm>
          <a:prstGeom prst="rect">
            <a:avLst/>
          </a:prstGeom>
        </p:spPr>
      </p:pic>
      <p:sp>
        <p:nvSpPr>
          <p:cNvPr id="17" name="Text 10"/>
          <p:cNvSpPr/>
          <p:nvPr/>
        </p:nvSpPr>
        <p:spPr>
          <a:xfrm>
            <a:off x="1712119" y="6682502"/>
            <a:ext cx="2293144" cy="270986"/>
          </a:xfrm>
          <a:prstGeom prst="rect">
            <a:avLst/>
          </a:prstGeom>
          <a:noFill/>
          <a:ln/>
        </p:spPr>
        <p:txBody>
          <a:bodyPr wrap="none" lIns="0" tIns="0" rIns="0" bIns="0" rtlCol="0" anchor="t"/>
          <a:lstStyle/>
          <a:p>
            <a:pPr marL="0" indent="0" algn="l">
              <a:lnSpc>
                <a:spcPts val="2100"/>
              </a:lnSpc>
              <a:buNone/>
            </a:pPr>
            <a:r>
              <a:rPr lang="en-US" sz="1700" dirty="0">
                <a:solidFill>
                  <a:srgbClr val="1E3063"/>
                </a:solidFill>
                <a:latin typeface="Instrument Sans Semi Bold" pitchFamily="34" charset="0"/>
                <a:ea typeface="Instrument Sans Semi Bold" pitchFamily="34" charset="-122"/>
                <a:cs typeface="Instrument Sans Semi Bold" pitchFamily="34" charset="-120"/>
              </a:rPr>
              <a:t>Barycentric Weighting</a:t>
            </a:r>
            <a:endParaRPr lang="en-US" sz="1700" dirty="0"/>
          </a:p>
        </p:txBody>
      </p:sp>
      <p:sp>
        <p:nvSpPr>
          <p:cNvPr id="18" name="Text 11"/>
          <p:cNvSpPr/>
          <p:nvPr/>
        </p:nvSpPr>
        <p:spPr>
          <a:xfrm>
            <a:off x="1712119" y="7044333"/>
            <a:ext cx="6738223" cy="260033"/>
          </a:xfrm>
          <a:prstGeom prst="rect">
            <a:avLst/>
          </a:prstGeom>
          <a:noFill/>
          <a:ln/>
        </p:spPr>
        <p:txBody>
          <a:bodyPr wrap="none" lIns="0" tIns="0" rIns="0" bIns="0" rtlCol="0" anchor="t"/>
          <a:lstStyle/>
          <a:p>
            <a:pPr marL="0" indent="0" algn="l">
              <a:lnSpc>
                <a:spcPts val="2000"/>
              </a:lnSpc>
              <a:buNone/>
            </a:pPr>
            <a:r>
              <a:rPr lang="en-US" sz="1350" dirty="0">
                <a:solidFill>
                  <a:srgbClr val="1E3063"/>
                </a:solidFill>
                <a:latin typeface="Instrument Sans Medium" pitchFamily="34" charset="0"/>
                <a:ea typeface="Instrument Sans Medium" pitchFamily="34" charset="-122"/>
                <a:cs typeface="Instrument Sans Medium" pitchFamily="34" charset="-120"/>
              </a:rPr>
              <a:t>Closest signals exert higher "pull" on final result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606754" y="392430"/>
            <a:ext cx="5248394" cy="373023"/>
          </a:xfrm>
          <a:prstGeom prst="rect">
            <a:avLst/>
          </a:prstGeom>
          <a:noFill/>
          <a:ln/>
        </p:spPr>
        <p:txBody>
          <a:bodyPr wrap="none" lIns="0" tIns="0" rIns="0" bIns="0" rtlCol="0" anchor="t"/>
          <a:lstStyle/>
          <a:p>
            <a:pPr marL="0" indent="0" algn="l">
              <a:lnSpc>
                <a:spcPts val="2900"/>
              </a:lnSpc>
              <a:buNone/>
            </a:pPr>
            <a:r>
              <a:rPr lang="en-US" sz="2350" b="1" dirty="0">
                <a:solidFill>
                  <a:srgbClr val="091C53"/>
                </a:solidFill>
                <a:latin typeface="Instrument Sans Semi Bold" pitchFamily="34" charset="0"/>
                <a:ea typeface="Instrument Sans Semi Bold" pitchFamily="34" charset="-122"/>
                <a:cs typeface="Instrument Sans Semi Bold" pitchFamily="34" charset="-120"/>
              </a:rPr>
              <a:t>Fingerprinting Architecture &amp; Results</a:t>
            </a:r>
            <a:endParaRPr lang="en-US" sz="2350" b="1" dirty="0"/>
          </a:p>
        </p:txBody>
      </p:sp>
      <p:sp>
        <p:nvSpPr>
          <p:cNvPr id="3" name="Text 1"/>
          <p:cNvSpPr/>
          <p:nvPr/>
        </p:nvSpPr>
        <p:spPr>
          <a:xfrm>
            <a:off x="2606754" y="909042"/>
            <a:ext cx="119301" cy="149185"/>
          </a:xfrm>
          <a:prstGeom prst="rect">
            <a:avLst/>
          </a:prstGeom>
          <a:noFill/>
          <a:ln/>
        </p:spPr>
        <p:txBody>
          <a:bodyPr wrap="none" lIns="0" tIns="0" rIns="0" bIns="0" rtlCol="0" anchor="t"/>
          <a:lstStyle/>
          <a:p>
            <a:pPr marL="0" indent="0" algn="l">
              <a:lnSpc>
                <a:spcPts val="1200"/>
              </a:lnSpc>
              <a:buNone/>
            </a:pPr>
            <a:r>
              <a:rPr lang="en-US" sz="900" dirty="0">
                <a:solidFill>
                  <a:srgbClr val="1E3063"/>
                </a:solidFill>
                <a:latin typeface="Instrument Sans Light" pitchFamily="34" charset="0"/>
                <a:ea typeface="Instrument Sans Light" pitchFamily="34" charset="-122"/>
                <a:cs typeface="Instrument Sans Light" pitchFamily="34" charset="-120"/>
              </a:rPr>
              <a:t>01</a:t>
            </a:r>
            <a:endParaRPr lang="en-US" sz="900" dirty="0"/>
          </a:p>
        </p:txBody>
      </p:sp>
      <p:sp>
        <p:nvSpPr>
          <p:cNvPr id="4" name="Shape 2"/>
          <p:cNvSpPr/>
          <p:nvPr/>
        </p:nvSpPr>
        <p:spPr>
          <a:xfrm>
            <a:off x="2606754" y="1096566"/>
            <a:ext cx="3090982" cy="15240"/>
          </a:xfrm>
          <a:prstGeom prst="rect">
            <a:avLst/>
          </a:prstGeom>
          <a:solidFill>
            <a:srgbClr val="84C1FA"/>
          </a:solidFill>
          <a:ln/>
        </p:spPr>
        <p:txBody>
          <a:bodyPr/>
          <a:lstStyle/>
          <a:p>
            <a:endParaRPr lang="en-US"/>
          </a:p>
        </p:txBody>
      </p:sp>
      <p:sp>
        <p:nvSpPr>
          <p:cNvPr id="5" name="Text 3"/>
          <p:cNvSpPr/>
          <p:nvPr/>
        </p:nvSpPr>
        <p:spPr>
          <a:xfrm>
            <a:off x="2606754" y="1186696"/>
            <a:ext cx="1492687" cy="186571"/>
          </a:xfrm>
          <a:prstGeom prst="rect">
            <a:avLst/>
          </a:prstGeom>
          <a:noFill/>
          <a:ln/>
        </p:spPr>
        <p:txBody>
          <a:bodyPr wrap="none" lIns="0" tIns="0" rIns="0" bIns="0" rtlCol="0" anchor="t"/>
          <a:lstStyle/>
          <a:p>
            <a:pPr marL="0" indent="0" algn="l">
              <a:lnSpc>
                <a:spcPts val="14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Cellule</a:t>
            </a:r>
            <a:endParaRPr lang="en-US" sz="1150" dirty="0"/>
          </a:p>
        </p:txBody>
      </p:sp>
      <p:sp>
        <p:nvSpPr>
          <p:cNvPr id="6" name="Text 4"/>
          <p:cNvSpPr/>
          <p:nvPr/>
        </p:nvSpPr>
        <p:spPr>
          <a:xfrm>
            <a:off x="2606754" y="1416368"/>
            <a:ext cx="3090982" cy="458986"/>
          </a:xfrm>
          <a:prstGeom prst="rect">
            <a:avLst/>
          </a:prstGeom>
          <a:noFill/>
          <a:ln/>
        </p:spPr>
        <p:txBody>
          <a:bodyPr wrap="square" lIns="0" tIns="0" rIns="0" bIns="0" rtlCol="0" anchor="t"/>
          <a:lstStyle/>
          <a:p>
            <a:pPr marL="0" indent="0" algn="l">
              <a:lnSpc>
                <a:spcPts val="1200"/>
              </a:lnSpc>
              <a:buNone/>
            </a:pPr>
            <a:r>
              <a:rPr lang="en-US" sz="900" dirty="0">
                <a:solidFill>
                  <a:srgbClr val="1E3063"/>
                </a:solidFill>
                <a:latin typeface="Instrument Sans Medium" pitchFamily="34" charset="0"/>
                <a:ea typeface="Instrument Sans Medium" pitchFamily="34" charset="-122"/>
                <a:cs typeface="Instrument Sans Medium" pitchFamily="34" charset="-120"/>
              </a:rPr>
              <a:t>Physical sector mapped with baseline RSSI signatures. Uses getSignalDistance() to compare signal topology instead of physical geometry.</a:t>
            </a:r>
            <a:endParaRPr lang="en-US" sz="900" dirty="0"/>
          </a:p>
        </p:txBody>
      </p:sp>
      <p:sp>
        <p:nvSpPr>
          <p:cNvPr id="7" name="Text 5"/>
          <p:cNvSpPr/>
          <p:nvPr/>
        </p:nvSpPr>
        <p:spPr>
          <a:xfrm>
            <a:off x="5769531" y="909042"/>
            <a:ext cx="119301" cy="149185"/>
          </a:xfrm>
          <a:prstGeom prst="rect">
            <a:avLst/>
          </a:prstGeom>
          <a:noFill/>
          <a:ln/>
        </p:spPr>
        <p:txBody>
          <a:bodyPr wrap="none" lIns="0" tIns="0" rIns="0" bIns="0" rtlCol="0" anchor="t"/>
          <a:lstStyle/>
          <a:p>
            <a:pPr marL="0" indent="0" algn="l">
              <a:lnSpc>
                <a:spcPts val="1200"/>
              </a:lnSpc>
              <a:buNone/>
            </a:pPr>
            <a:r>
              <a:rPr lang="en-US" sz="900" dirty="0">
                <a:solidFill>
                  <a:srgbClr val="1E3063"/>
                </a:solidFill>
                <a:latin typeface="Instrument Sans Light" pitchFamily="34" charset="0"/>
                <a:ea typeface="Instrument Sans Light" pitchFamily="34" charset="-122"/>
                <a:cs typeface="Instrument Sans Light" pitchFamily="34" charset="-120"/>
              </a:rPr>
              <a:t>02</a:t>
            </a:r>
            <a:endParaRPr lang="en-US" sz="900" dirty="0"/>
          </a:p>
        </p:txBody>
      </p:sp>
      <p:sp>
        <p:nvSpPr>
          <p:cNvPr id="8" name="Shape 6"/>
          <p:cNvSpPr/>
          <p:nvPr/>
        </p:nvSpPr>
        <p:spPr>
          <a:xfrm>
            <a:off x="5769531" y="1096566"/>
            <a:ext cx="3091101" cy="15240"/>
          </a:xfrm>
          <a:prstGeom prst="rect">
            <a:avLst/>
          </a:prstGeom>
          <a:solidFill>
            <a:srgbClr val="84C1FA"/>
          </a:solidFill>
          <a:ln/>
        </p:spPr>
        <p:txBody>
          <a:bodyPr/>
          <a:lstStyle/>
          <a:p>
            <a:endParaRPr lang="en-US"/>
          </a:p>
        </p:txBody>
      </p:sp>
      <p:sp>
        <p:nvSpPr>
          <p:cNvPr id="9" name="Text 7"/>
          <p:cNvSpPr/>
          <p:nvPr/>
        </p:nvSpPr>
        <p:spPr>
          <a:xfrm>
            <a:off x="5769531" y="1186696"/>
            <a:ext cx="1492687" cy="186571"/>
          </a:xfrm>
          <a:prstGeom prst="rect">
            <a:avLst/>
          </a:prstGeom>
          <a:noFill/>
          <a:ln/>
        </p:spPr>
        <p:txBody>
          <a:bodyPr wrap="none" lIns="0" tIns="0" rIns="0" bIns="0" rtlCol="0" anchor="t"/>
          <a:lstStyle/>
          <a:p>
            <a:pPr marL="0" indent="0" algn="l">
              <a:lnSpc>
                <a:spcPts val="14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Position</a:t>
            </a:r>
            <a:endParaRPr lang="en-US" sz="1150" dirty="0"/>
          </a:p>
        </p:txBody>
      </p:sp>
      <p:sp>
        <p:nvSpPr>
          <p:cNvPr id="10" name="Text 8"/>
          <p:cNvSpPr/>
          <p:nvPr/>
        </p:nvSpPr>
        <p:spPr>
          <a:xfrm>
            <a:off x="5769531" y="1416368"/>
            <a:ext cx="3091101" cy="305991"/>
          </a:xfrm>
          <a:prstGeom prst="rect">
            <a:avLst/>
          </a:prstGeom>
          <a:noFill/>
          <a:ln/>
        </p:spPr>
        <p:txBody>
          <a:bodyPr wrap="square" lIns="0" tIns="0" rIns="0" bIns="0" rtlCol="0" anchor="t"/>
          <a:lstStyle/>
          <a:p>
            <a:pPr marL="0" indent="0" algn="l">
              <a:lnSpc>
                <a:spcPts val="1200"/>
              </a:lnSpc>
              <a:buNone/>
            </a:pPr>
            <a:r>
              <a:rPr lang="en-US" sz="900" dirty="0">
                <a:solidFill>
                  <a:srgbClr val="1E3063"/>
                </a:solidFill>
                <a:latin typeface="Instrument Sans Medium" pitchFamily="34" charset="0"/>
                <a:ea typeface="Instrument Sans Medium" pitchFamily="34" charset="-122"/>
                <a:cs typeface="Instrument Sans Medium" pitchFamily="34" charset="-120"/>
              </a:rPr>
              <a:t>Physical location output used to calculate the barycenter of the nearest neighbors.</a:t>
            </a:r>
            <a:endParaRPr lang="en-US" sz="900" dirty="0"/>
          </a:p>
        </p:txBody>
      </p:sp>
      <p:sp>
        <p:nvSpPr>
          <p:cNvPr id="11" name="Text 9"/>
          <p:cNvSpPr/>
          <p:nvPr/>
        </p:nvSpPr>
        <p:spPr>
          <a:xfrm>
            <a:off x="8932426" y="909042"/>
            <a:ext cx="119301" cy="149185"/>
          </a:xfrm>
          <a:prstGeom prst="rect">
            <a:avLst/>
          </a:prstGeom>
          <a:noFill/>
          <a:ln/>
        </p:spPr>
        <p:txBody>
          <a:bodyPr wrap="none" lIns="0" tIns="0" rIns="0" bIns="0" rtlCol="0" anchor="t"/>
          <a:lstStyle/>
          <a:p>
            <a:pPr marL="0" indent="0" algn="l">
              <a:lnSpc>
                <a:spcPts val="1200"/>
              </a:lnSpc>
              <a:buNone/>
            </a:pPr>
            <a:r>
              <a:rPr lang="en-US" sz="900" dirty="0">
                <a:solidFill>
                  <a:srgbClr val="1E3063"/>
                </a:solidFill>
                <a:latin typeface="Instrument Sans Light" pitchFamily="34" charset="0"/>
                <a:ea typeface="Instrument Sans Light" pitchFamily="34" charset="-122"/>
                <a:cs typeface="Instrument Sans Light" pitchFamily="34" charset="-120"/>
              </a:rPr>
              <a:t>03</a:t>
            </a:r>
            <a:endParaRPr lang="en-US" sz="900" dirty="0"/>
          </a:p>
        </p:txBody>
      </p:sp>
      <p:sp>
        <p:nvSpPr>
          <p:cNvPr id="12" name="Shape 10"/>
          <p:cNvSpPr/>
          <p:nvPr/>
        </p:nvSpPr>
        <p:spPr>
          <a:xfrm>
            <a:off x="8932426" y="1096566"/>
            <a:ext cx="3090982" cy="15240"/>
          </a:xfrm>
          <a:prstGeom prst="rect">
            <a:avLst/>
          </a:prstGeom>
          <a:solidFill>
            <a:srgbClr val="84C1FA"/>
          </a:solidFill>
          <a:ln/>
        </p:spPr>
        <p:txBody>
          <a:bodyPr/>
          <a:lstStyle/>
          <a:p>
            <a:endParaRPr lang="en-US"/>
          </a:p>
        </p:txBody>
      </p:sp>
      <p:sp>
        <p:nvSpPr>
          <p:cNvPr id="13" name="Text 11"/>
          <p:cNvSpPr/>
          <p:nvPr/>
        </p:nvSpPr>
        <p:spPr>
          <a:xfrm>
            <a:off x="8932426" y="1186696"/>
            <a:ext cx="1492687" cy="186571"/>
          </a:xfrm>
          <a:prstGeom prst="rect">
            <a:avLst/>
          </a:prstGeom>
          <a:noFill/>
          <a:ln/>
        </p:spPr>
        <p:txBody>
          <a:bodyPr wrap="none" lIns="0" tIns="0" rIns="0" bIns="0" rtlCol="0" anchor="t"/>
          <a:lstStyle/>
          <a:p>
            <a:pPr marL="0" indent="0" algn="l">
              <a:lnSpc>
                <a:spcPts val="14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FingerprintService</a:t>
            </a:r>
            <a:endParaRPr lang="en-US" sz="1150" dirty="0"/>
          </a:p>
        </p:txBody>
      </p:sp>
      <p:sp>
        <p:nvSpPr>
          <p:cNvPr id="14" name="Text 12"/>
          <p:cNvSpPr/>
          <p:nvPr/>
        </p:nvSpPr>
        <p:spPr>
          <a:xfrm>
            <a:off x="8932426" y="1416368"/>
            <a:ext cx="3090982" cy="458986"/>
          </a:xfrm>
          <a:prstGeom prst="rect">
            <a:avLst/>
          </a:prstGeom>
          <a:noFill/>
          <a:ln/>
        </p:spPr>
        <p:txBody>
          <a:bodyPr wrap="square" lIns="0" tIns="0" rIns="0" bIns="0" rtlCol="0" anchor="t"/>
          <a:lstStyle/>
          <a:p>
            <a:pPr marL="0" indent="0" algn="l">
              <a:lnSpc>
                <a:spcPts val="1200"/>
              </a:lnSpc>
              <a:buNone/>
            </a:pPr>
            <a:r>
              <a:rPr lang="en-US" sz="900" dirty="0">
                <a:solidFill>
                  <a:srgbClr val="1E3063"/>
                </a:solidFill>
                <a:latin typeface="Instrument Sans Medium" pitchFamily="34" charset="0"/>
                <a:ea typeface="Instrument Sans Medium" pitchFamily="34" charset="-122"/>
                <a:cs typeface="Instrument Sans Medium" pitchFamily="34" charset="-120"/>
              </a:rPr>
              <a:t>Runs compute(grid, tmRssi, int k), ranks signal distances, selects the top K neighbors, and averages them for location approximation.</a:t>
            </a:r>
            <a:endParaRPr lang="en-US" sz="900" dirty="0"/>
          </a:p>
        </p:txBody>
      </p:sp>
      <p:sp>
        <p:nvSpPr>
          <p:cNvPr id="15" name="Text 13"/>
          <p:cNvSpPr/>
          <p:nvPr/>
        </p:nvSpPr>
        <p:spPr>
          <a:xfrm>
            <a:off x="2606754" y="2036683"/>
            <a:ext cx="119301" cy="149185"/>
          </a:xfrm>
          <a:prstGeom prst="rect">
            <a:avLst/>
          </a:prstGeom>
          <a:noFill/>
          <a:ln/>
        </p:spPr>
        <p:txBody>
          <a:bodyPr wrap="none" lIns="0" tIns="0" rIns="0" bIns="0" rtlCol="0" anchor="t"/>
          <a:lstStyle/>
          <a:p>
            <a:pPr marL="0" indent="0" algn="l">
              <a:lnSpc>
                <a:spcPts val="1200"/>
              </a:lnSpc>
              <a:buNone/>
            </a:pPr>
            <a:r>
              <a:rPr lang="en-US" sz="900" dirty="0">
                <a:solidFill>
                  <a:srgbClr val="1E3063"/>
                </a:solidFill>
                <a:latin typeface="Instrument Sans Light" pitchFamily="34" charset="0"/>
                <a:ea typeface="Instrument Sans Light" pitchFamily="34" charset="-122"/>
                <a:cs typeface="Instrument Sans Light" pitchFamily="34" charset="-120"/>
              </a:rPr>
              <a:t>04</a:t>
            </a:r>
            <a:endParaRPr lang="en-US" sz="900" dirty="0"/>
          </a:p>
        </p:txBody>
      </p:sp>
      <p:sp>
        <p:nvSpPr>
          <p:cNvPr id="16" name="Shape 14"/>
          <p:cNvSpPr/>
          <p:nvPr/>
        </p:nvSpPr>
        <p:spPr>
          <a:xfrm>
            <a:off x="2606754" y="2224207"/>
            <a:ext cx="4672370" cy="15240"/>
          </a:xfrm>
          <a:prstGeom prst="rect">
            <a:avLst/>
          </a:prstGeom>
          <a:solidFill>
            <a:srgbClr val="84C1FA"/>
          </a:solidFill>
          <a:ln/>
        </p:spPr>
        <p:txBody>
          <a:bodyPr/>
          <a:lstStyle/>
          <a:p>
            <a:endParaRPr lang="en-US"/>
          </a:p>
        </p:txBody>
      </p:sp>
      <p:sp>
        <p:nvSpPr>
          <p:cNvPr id="17" name="Text 15"/>
          <p:cNvSpPr/>
          <p:nvPr/>
        </p:nvSpPr>
        <p:spPr>
          <a:xfrm>
            <a:off x="2606754" y="2314337"/>
            <a:ext cx="2560201" cy="186571"/>
          </a:xfrm>
          <a:prstGeom prst="rect">
            <a:avLst/>
          </a:prstGeom>
          <a:noFill/>
          <a:ln/>
        </p:spPr>
        <p:txBody>
          <a:bodyPr wrap="none" lIns="0" tIns="0" rIns="0" bIns="0" rtlCol="0" anchor="t"/>
          <a:lstStyle/>
          <a:p>
            <a:pPr marL="0" indent="0" algn="l">
              <a:lnSpc>
                <a:spcPts val="14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PositioningController (TD3 Context)</a:t>
            </a:r>
            <a:endParaRPr lang="en-US" sz="1150" dirty="0"/>
          </a:p>
        </p:txBody>
      </p:sp>
      <p:sp>
        <p:nvSpPr>
          <p:cNvPr id="18" name="Text 16"/>
          <p:cNvSpPr/>
          <p:nvPr/>
        </p:nvSpPr>
        <p:spPr>
          <a:xfrm>
            <a:off x="2606754" y="2544008"/>
            <a:ext cx="4672370" cy="305991"/>
          </a:xfrm>
          <a:prstGeom prst="rect">
            <a:avLst/>
          </a:prstGeom>
          <a:noFill/>
          <a:ln/>
        </p:spPr>
        <p:txBody>
          <a:bodyPr wrap="square" lIns="0" tIns="0" rIns="0" bIns="0" rtlCol="0" anchor="t"/>
          <a:lstStyle/>
          <a:p>
            <a:pPr marL="0" indent="0" algn="l">
              <a:lnSpc>
                <a:spcPts val="1200"/>
              </a:lnSpc>
              <a:buNone/>
            </a:pPr>
            <a:r>
              <a:rPr lang="en-US" sz="900" dirty="0">
                <a:solidFill>
                  <a:srgbClr val="1E3063"/>
                </a:solidFill>
                <a:latin typeface="Instrument Sans Medium" pitchFamily="34" charset="0"/>
                <a:ea typeface="Instrument Sans Medium" pitchFamily="34" charset="-122"/>
                <a:cs typeface="Instrument Sans Medium" pitchFamily="34" charset="-120"/>
              </a:rPr>
              <a:t>Exposes fingerprint() to inject the offline grid and pass the target tmRssi signature to the service.</a:t>
            </a:r>
            <a:endParaRPr lang="en-US" sz="900" dirty="0"/>
          </a:p>
        </p:txBody>
      </p:sp>
      <p:sp>
        <p:nvSpPr>
          <p:cNvPr id="19" name="Text 17"/>
          <p:cNvSpPr/>
          <p:nvPr/>
        </p:nvSpPr>
        <p:spPr>
          <a:xfrm>
            <a:off x="7350919" y="2036683"/>
            <a:ext cx="119301" cy="149185"/>
          </a:xfrm>
          <a:prstGeom prst="rect">
            <a:avLst/>
          </a:prstGeom>
          <a:noFill/>
          <a:ln/>
        </p:spPr>
        <p:txBody>
          <a:bodyPr wrap="none" lIns="0" tIns="0" rIns="0" bIns="0" rtlCol="0" anchor="t"/>
          <a:lstStyle/>
          <a:p>
            <a:pPr marL="0" indent="0" algn="l">
              <a:lnSpc>
                <a:spcPts val="1200"/>
              </a:lnSpc>
              <a:buNone/>
            </a:pPr>
            <a:r>
              <a:rPr lang="en-US" sz="900" dirty="0">
                <a:solidFill>
                  <a:srgbClr val="1E3063"/>
                </a:solidFill>
                <a:latin typeface="Instrument Sans Light" pitchFamily="34" charset="0"/>
                <a:ea typeface="Instrument Sans Light" pitchFamily="34" charset="-122"/>
                <a:cs typeface="Instrument Sans Light" pitchFamily="34" charset="-120"/>
              </a:rPr>
              <a:t>05</a:t>
            </a:r>
            <a:endParaRPr lang="en-US" sz="900" dirty="0"/>
          </a:p>
        </p:txBody>
      </p:sp>
      <p:sp>
        <p:nvSpPr>
          <p:cNvPr id="20" name="Shape 18"/>
          <p:cNvSpPr/>
          <p:nvPr/>
        </p:nvSpPr>
        <p:spPr>
          <a:xfrm>
            <a:off x="7350919" y="2224207"/>
            <a:ext cx="4672489" cy="15240"/>
          </a:xfrm>
          <a:prstGeom prst="rect">
            <a:avLst/>
          </a:prstGeom>
          <a:solidFill>
            <a:srgbClr val="84C1FA"/>
          </a:solidFill>
          <a:ln/>
        </p:spPr>
        <p:txBody>
          <a:bodyPr/>
          <a:lstStyle/>
          <a:p>
            <a:endParaRPr lang="en-US"/>
          </a:p>
        </p:txBody>
      </p:sp>
      <p:sp>
        <p:nvSpPr>
          <p:cNvPr id="21" name="Text 19"/>
          <p:cNvSpPr/>
          <p:nvPr/>
        </p:nvSpPr>
        <p:spPr>
          <a:xfrm>
            <a:off x="7350919" y="2314337"/>
            <a:ext cx="1492687" cy="186571"/>
          </a:xfrm>
          <a:prstGeom prst="rect">
            <a:avLst/>
          </a:prstGeom>
          <a:noFill/>
          <a:ln/>
        </p:spPr>
        <p:txBody>
          <a:bodyPr wrap="none" lIns="0" tIns="0" rIns="0" bIns="0" rtlCol="0" anchor="t"/>
          <a:lstStyle/>
          <a:p>
            <a:pPr marL="0" indent="0" algn="l">
              <a:lnSpc>
                <a:spcPts val="14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RadioMap (Grid)</a:t>
            </a:r>
            <a:endParaRPr lang="en-US" sz="1150" dirty="0"/>
          </a:p>
        </p:txBody>
      </p:sp>
      <p:sp>
        <p:nvSpPr>
          <p:cNvPr id="22" name="Text 20"/>
          <p:cNvSpPr/>
          <p:nvPr/>
        </p:nvSpPr>
        <p:spPr>
          <a:xfrm>
            <a:off x="7350919" y="2544008"/>
            <a:ext cx="4672489" cy="305991"/>
          </a:xfrm>
          <a:prstGeom prst="rect">
            <a:avLst/>
          </a:prstGeom>
          <a:noFill/>
          <a:ln/>
        </p:spPr>
        <p:txBody>
          <a:bodyPr wrap="square" lIns="0" tIns="0" rIns="0" bIns="0" rtlCol="0" anchor="t"/>
          <a:lstStyle/>
          <a:p>
            <a:pPr marL="0" indent="0" algn="l">
              <a:lnSpc>
                <a:spcPts val="1200"/>
              </a:lnSpc>
              <a:buNone/>
            </a:pPr>
            <a:r>
              <a:rPr lang="en-US" sz="900" dirty="0">
                <a:solidFill>
                  <a:srgbClr val="1E3063"/>
                </a:solidFill>
                <a:latin typeface="Instrument Sans Medium" pitchFamily="34" charset="0"/>
                <a:ea typeface="Instrument Sans Medium" pitchFamily="34" charset="-122"/>
                <a:cs typeface="Instrument Sans Medium" pitchFamily="34" charset="-120"/>
              </a:rPr>
              <a:t>Offline database of established signal signatures that enables K-Nearest Neighbors matching.</a:t>
            </a:r>
            <a:endParaRPr lang="en-US" sz="900" dirty="0"/>
          </a:p>
        </p:txBody>
      </p:sp>
      <p:pic>
        <p:nvPicPr>
          <p:cNvPr id="23" name="Image 0" descr="preencoded.png"/>
          <p:cNvPicPr>
            <a:picLocks noChangeAspect="1"/>
          </p:cNvPicPr>
          <p:nvPr/>
        </p:nvPicPr>
        <p:blipFill>
          <a:blip r:embed="rId3"/>
          <a:stretch>
            <a:fillRect/>
          </a:stretch>
        </p:blipFill>
        <p:spPr>
          <a:xfrm>
            <a:off x="3769757" y="3100983"/>
            <a:ext cx="2236589" cy="3746183"/>
          </a:xfrm>
          <a:prstGeom prst="rect">
            <a:avLst/>
          </a:prstGeom>
        </p:spPr>
      </p:pic>
      <p:sp>
        <p:nvSpPr>
          <p:cNvPr id="24" name="Text 21"/>
          <p:cNvSpPr/>
          <p:nvPr/>
        </p:nvSpPr>
        <p:spPr>
          <a:xfrm>
            <a:off x="2606754" y="6927890"/>
            <a:ext cx="4562713" cy="152995"/>
          </a:xfrm>
          <a:prstGeom prst="rect">
            <a:avLst/>
          </a:prstGeom>
          <a:noFill/>
          <a:ln/>
        </p:spPr>
        <p:txBody>
          <a:bodyPr wrap="none" lIns="0" tIns="0" rIns="0" bIns="0" rtlCol="0" anchor="t"/>
          <a:lstStyle/>
          <a:p>
            <a:pPr marL="0" indent="0" algn="l">
              <a:lnSpc>
                <a:spcPts val="1200"/>
              </a:lnSpc>
              <a:buNone/>
            </a:pPr>
            <a:r>
              <a:rPr lang="en-US" sz="900" i="1" dirty="0">
                <a:solidFill>
                  <a:srgbClr val="1E3063"/>
                </a:solidFill>
                <a:latin typeface="Instrument Sans Medium" pitchFamily="34" charset="0"/>
                <a:ea typeface="Instrument Sans Medium" pitchFamily="34" charset="-122"/>
                <a:cs typeface="Instrument Sans Medium" pitchFamily="34" charset="-120"/>
              </a:rPr>
              <a:t>Figure 3: UML Class Diagram for Fingerprinting Architecture</a:t>
            </a:r>
            <a:endParaRPr lang="en-US" sz="900" dirty="0"/>
          </a:p>
        </p:txBody>
      </p:sp>
      <p:pic>
        <p:nvPicPr>
          <p:cNvPr id="25" name="Image 1" descr="preencoded.png"/>
          <p:cNvPicPr>
            <a:picLocks noChangeAspect="1"/>
          </p:cNvPicPr>
          <p:nvPr/>
        </p:nvPicPr>
        <p:blipFill>
          <a:blip r:embed="rId4"/>
          <a:stretch>
            <a:fillRect/>
          </a:stretch>
        </p:blipFill>
        <p:spPr>
          <a:xfrm>
            <a:off x="7468314" y="3100983"/>
            <a:ext cx="4486394" cy="4437698"/>
          </a:xfrm>
          <a:prstGeom prst="rect">
            <a:avLst/>
          </a:prstGeom>
        </p:spPr>
      </p:pic>
      <p:sp>
        <p:nvSpPr>
          <p:cNvPr id="26" name="Text 22"/>
          <p:cNvSpPr/>
          <p:nvPr/>
        </p:nvSpPr>
        <p:spPr>
          <a:xfrm>
            <a:off x="7468314" y="7619405"/>
            <a:ext cx="4562713" cy="152995"/>
          </a:xfrm>
          <a:prstGeom prst="rect">
            <a:avLst/>
          </a:prstGeom>
          <a:noFill/>
          <a:ln/>
        </p:spPr>
        <p:txBody>
          <a:bodyPr wrap="none" lIns="0" tIns="0" rIns="0" bIns="0" rtlCol="0" anchor="t"/>
          <a:lstStyle/>
          <a:p>
            <a:pPr marL="0" indent="0" algn="l">
              <a:lnSpc>
                <a:spcPts val="1200"/>
              </a:lnSpc>
              <a:buNone/>
            </a:pPr>
            <a:r>
              <a:rPr lang="en-US" sz="900" i="1" dirty="0">
                <a:solidFill>
                  <a:srgbClr val="1E3063"/>
                </a:solidFill>
                <a:latin typeface="Instrument Sans Medium" pitchFamily="34" charset="0"/>
                <a:ea typeface="Instrument Sans Medium" pitchFamily="34" charset="-122"/>
                <a:cs typeface="Instrument Sans Medium" pitchFamily="34" charset="-120"/>
              </a:rPr>
              <a:t>Figure 4: Visual outcome of WKNN Barycenter calculation</a:t>
            </a:r>
            <a:endParaRPr lang="en-US" sz="900" dirty="0"/>
          </a:p>
        </p:txBody>
      </p:sp>
      <p:sp>
        <p:nvSpPr>
          <p:cNvPr id="27" name="Rectangle 26">
            <a:extLst>
              <a:ext uri="{FF2B5EF4-FFF2-40B4-BE49-F238E27FC236}">
                <a16:creationId xmlns:a16="http://schemas.microsoft.com/office/drawing/2014/main" id="{3C5F3D1A-845A-635A-B3BB-8BE11531AA7E}"/>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31969" y="895588"/>
            <a:ext cx="7652861" cy="1164908"/>
          </a:xfrm>
          <a:prstGeom prst="rect">
            <a:avLst/>
          </a:prstGeom>
          <a:noFill/>
          <a:ln/>
        </p:spPr>
        <p:txBody>
          <a:bodyPr wrap="square" lIns="0" tIns="0" rIns="0" bIns="0" rtlCol="0" anchor="t"/>
          <a:lstStyle/>
          <a:p>
            <a:pPr marL="0" indent="0" algn="l">
              <a:lnSpc>
                <a:spcPts val="4550"/>
              </a:lnSpc>
              <a:buNone/>
            </a:pPr>
            <a:r>
              <a:rPr lang="en-US" sz="3650" b="1" dirty="0">
                <a:solidFill>
                  <a:srgbClr val="091C53"/>
                </a:solidFill>
                <a:latin typeface="Instrument Sans Semi Bold" pitchFamily="34" charset="0"/>
                <a:ea typeface="Instrument Sans Semi Bold" pitchFamily="34" charset="-122"/>
                <a:cs typeface="Instrument Sans Semi Bold" pitchFamily="34" charset="-120"/>
              </a:rPr>
              <a:t>Dynamic Markov Models (Predictive Approach)</a:t>
            </a:r>
            <a:endParaRPr lang="en-US" sz="3650" b="1" dirty="0"/>
          </a:p>
        </p:txBody>
      </p:sp>
      <p:sp>
        <p:nvSpPr>
          <p:cNvPr id="4" name="Text 1"/>
          <p:cNvSpPr/>
          <p:nvPr/>
        </p:nvSpPr>
        <p:spPr>
          <a:xfrm>
            <a:off x="6231969" y="2130504"/>
            <a:ext cx="4312206" cy="349448"/>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Anticipating Movement Behavior</a:t>
            </a:r>
            <a:endParaRPr lang="en-US" sz="2200" dirty="0"/>
          </a:p>
        </p:txBody>
      </p:sp>
      <p:sp>
        <p:nvSpPr>
          <p:cNvPr id="5" name="Text 2"/>
          <p:cNvSpPr/>
          <p:nvPr/>
        </p:nvSpPr>
        <p:spPr>
          <a:xfrm>
            <a:off x="6231969" y="2742486"/>
            <a:ext cx="7652861" cy="867608"/>
          </a:xfrm>
          <a:prstGeom prst="rect">
            <a:avLst/>
          </a:prstGeom>
          <a:noFill/>
          <a:ln/>
        </p:spPr>
        <p:txBody>
          <a:bodyPr wrap="squar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 Markov Model anticipates human movement behavior by learning building constraints and habit loops. Rather than measuring signals, this approach observes spatial patterns and predicts future locations based on historical movement data.</a:t>
            </a:r>
            <a:endParaRPr lang="en-US" sz="1450" dirty="0"/>
          </a:p>
        </p:txBody>
      </p:sp>
      <p:sp>
        <p:nvSpPr>
          <p:cNvPr id="6" name="Shape 3"/>
          <p:cNvSpPr/>
          <p:nvPr/>
        </p:nvSpPr>
        <p:spPr>
          <a:xfrm>
            <a:off x="6441638" y="3806904"/>
            <a:ext cx="22860" cy="3526988"/>
          </a:xfrm>
          <a:prstGeom prst="roundRect">
            <a:avLst>
              <a:gd name="adj" fmla="val 733832"/>
            </a:avLst>
          </a:prstGeom>
          <a:solidFill>
            <a:srgbClr val="B4CCE3"/>
          </a:solidFill>
          <a:ln/>
        </p:spPr>
        <p:txBody>
          <a:bodyPr/>
          <a:lstStyle/>
          <a:p>
            <a:endParaRPr lang="en-US"/>
          </a:p>
        </p:txBody>
      </p:sp>
      <p:sp>
        <p:nvSpPr>
          <p:cNvPr id="7" name="Shape 4"/>
          <p:cNvSpPr/>
          <p:nvPr/>
        </p:nvSpPr>
        <p:spPr>
          <a:xfrm>
            <a:off x="6628448" y="4005143"/>
            <a:ext cx="559118" cy="22860"/>
          </a:xfrm>
          <a:prstGeom prst="roundRect">
            <a:avLst>
              <a:gd name="adj" fmla="val 733832"/>
            </a:avLst>
          </a:prstGeom>
          <a:solidFill>
            <a:srgbClr val="B4CCE3"/>
          </a:solidFill>
          <a:ln/>
        </p:spPr>
        <p:txBody>
          <a:bodyPr/>
          <a:lstStyle/>
          <a:p>
            <a:endParaRPr lang="en-US"/>
          </a:p>
        </p:txBody>
      </p:sp>
      <p:sp>
        <p:nvSpPr>
          <p:cNvPr id="8" name="Shape 5"/>
          <p:cNvSpPr/>
          <p:nvPr/>
        </p:nvSpPr>
        <p:spPr>
          <a:xfrm>
            <a:off x="6231969" y="3806904"/>
            <a:ext cx="419338" cy="419338"/>
          </a:xfrm>
          <a:prstGeom prst="roundRect">
            <a:avLst>
              <a:gd name="adj" fmla="val 40004"/>
            </a:avLst>
          </a:prstGeom>
          <a:solidFill>
            <a:srgbClr val="CEE6FD"/>
          </a:solidFill>
          <a:ln/>
        </p:spPr>
        <p:txBody>
          <a:bodyPr/>
          <a:lstStyle/>
          <a:p>
            <a:endParaRPr lang="en-US"/>
          </a:p>
        </p:txBody>
      </p:sp>
      <p:sp>
        <p:nvSpPr>
          <p:cNvPr id="9" name="Text 6"/>
          <p:cNvSpPr/>
          <p:nvPr/>
        </p:nvSpPr>
        <p:spPr>
          <a:xfrm>
            <a:off x="6301859" y="3841849"/>
            <a:ext cx="279559" cy="349448"/>
          </a:xfrm>
          <a:prstGeom prst="rect">
            <a:avLst/>
          </a:prstGeom>
          <a:noFill/>
          <a:ln/>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1</a:t>
            </a:r>
            <a:endParaRPr lang="en-US" sz="2200" dirty="0"/>
          </a:p>
        </p:txBody>
      </p:sp>
      <p:sp>
        <p:nvSpPr>
          <p:cNvPr id="10" name="Text 7"/>
          <p:cNvSpPr/>
          <p:nvPr/>
        </p:nvSpPr>
        <p:spPr>
          <a:xfrm>
            <a:off x="7373541" y="3870960"/>
            <a:ext cx="2329815" cy="291227"/>
          </a:xfrm>
          <a:prstGeom prst="rect">
            <a:avLst/>
          </a:prstGeom>
          <a:noFill/>
          <a:ln/>
        </p:spPr>
        <p:txBody>
          <a:bodyPr wrap="none" lIns="0" tIns="0" rIns="0" bIns="0" rtlCol="0" anchor="t"/>
          <a:lstStyle/>
          <a:p>
            <a:pPr marL="0" indent="0" algn="l">
              <a:lnSpc>
                <a:spcPts val="225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Tallying Phase</a:t>
            </a:r>
            <a:endParaRPr lang="en-US" sz="1800" dirty="0"/>
          </a:p>
        </p:txBody>
      </p:sp>
      <p:sp>
        <p:nvSpPr>
          <p:cNvPr id="11" name="Text 8"/>
          <p:cNvSpPr/>
          <p:nvPr/>
        </p:nvSpPr>
        <p:spPr>
          <a:xfrm>
            <a:off x="7373541" y="4267200"/>
            <a:ext cx="6511290" cy="578406"/>
          </a:xfrm>
          <a:prstGeom prst="rect">
            <a:avLst/>
          </a:prstGeom>
          <a:noFill/>
          <a:ln/>
        </p:spPr>
        <p:txBody>
          <a:bodyPr wrap="squar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Assigns tally marks to specific routes between cells as users move through space</a:t>
            </a:r>
            <a:endParaRPr lang="en-US" sz="1450" dirty="0"/>
          </a:p>
        </p:txBody>
      </p:sp>
      <p:sp>
        <p:nvSpPr>
          <p:cNvPr id="12" name="Shape 9"/>
          <p:cNvSpPr/>
          <p:nvPr/>
        </p:nvSpPr>
        <p:spPr>
          <a:xfrm>
            <a:off x="6628448" y="5393888"/>
            <a:ext cx="559118" cy="22860"/>
          </a:xfrm>
          <a:prstGeom prst="roundRect">
            <a:avLst>
              <a:gd name="adj" fmla="val 733832"/>
            </a:avLst>
          </a:prstGeom>
          <a:solidFill>
            <a:srgbClr val="B4CCE3"/>
          </a:solidFill>
          <a:ln/>
        </p:spPr>
        <p:txBody>
          <a:bodyPr/>
          <a:lstStyle/>
          <a:p>
            <a:endParaRPr lang="en-US"/>
          </a:p>
        </p:txBody>
      </p:sp>
      <p:sp>
        <p:nvSpPr>
          <p:cNvPr id="13" name="Shape 10"/>
          <p:cNvSpPr/>
          <p:nvPr/>
        </p:nvSpPr>
        <p:spPr>
          <a:xfrm>
            <a:off x="6231969" y="5195649"/>
            <a:ext cx="419338" cy="419338"/>
          </a:xfrm>
          <a:prstGeom prst="roundRect">
            <a:avLst>
              <a:gd name="adj" fmla="val 40004"/>
            </a:avLst>
          </a:prstGeom>
          <a:solidFill>
            <a:srgbClr val="CEE6FD"/>
          </a:solidFill>
          <a:ln/>
        </p:spPr>
        <p:txBody>
          <a:bodyPr/>
          <a:lstStyle/>
          <a:p>
            <a:endParaRPr lang="en-US"/>
          </a:p>
        </p:txBody>
      </p:sp>
      <p:sp>
        <p:nvSpPr>
          <p:cNvPr id="14" name="Text 11"/>
          <p:cNvSpPr/>
          <p:nvPr/>
        </p:nvSpPr>
        <p:spPr>
          <a:xfrm>
            <a:off x="6301859" y="5230594"/>
            <a:ext cx="279559" cy="349448"/>
          </a:xfrm>
          <a:prstGeom prst="rect">
            <a:avLst/>
          </a:prstGeom>
          <a:noFill/>
          <a:ln/>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2</a:t>
            </a:r>
            <a:endParaRPr lang="en-US" sz="2200" dirty="0"/>
          </a:p>
        </p:txBody>
      </p:sp>
      <p:sp>
        <p:nvSpPr>
          <p:cNvPr id="15" name="Text 12"/>
          <p:cNvSpPr/>
          <p:nvPr/>
        </p:nvSpPr>
        <p:spPr>
          <a:xfrm>
            <a:off x="7373541" y="5259705"/>
            <a:ext cx="2329815" cy="291227"/>
          </a:xfrm>
          <a:prstGeom prst="rect">
            <a:avLst/>
          </a:prstGeom>
          <a:noFill/>
          <a:ln/>
        </p:spPr>
        <p:txBody>
          <a:bodyPr wrap="none" lIns="0" tIns="0" rIns="0" bIns="0" rtlCol="0" anchor="t"/>
          <a:lstStyle/>
          <a:p>
            <a:pPr marL="0" indent="0" algn="l">
              <a:lnSpc>
                <a:spcPts val="225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Building the Matrix</a:t>
            </a:r>
            <a:endParaRPr lang="en-US" sz="1800" dirty="0"/>
          </a:p>
        </p:txBody>
      </p:sp>
      <p:sp>
        <p:nvSpPr>
          <p:cNvPr id="16" name="Text 13"/>
          <p:cNvSpPr/>
          <p:nvPr/>
        </p:nvSpPr>
        <p:spPr>
          <a:xfrm>
            <a:off x="7373541" y="5655945"/>
            <a:ext cx="6511290" cy="289203"/>
          </a:xfrm>
          <a:prstGeom prst="rect">
            <a:avLst/>
          </a:prstGeom>
          <a:noFill/>
          <a:ln/>
        </p:spPr>
        <p:txBody>
          <a:bodyPr wrap="non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Translates route tallies into percentile probabilities for transition patterns</a:t>
            </a:r>
            <a:endParaRPr lang="en-US" sz="1450" dirty="0"/>
          </a:p>
        </p:txBody>
      </p:sp>
      <p:sp>
        <p:nvSpPr>
          <p:cNvPr id="17" name="Shape 14"/>
          <p:cNvSpPr/>
          <p:nvPr/>
        </p:nvSpPr>
        <p:spPr>
          <a:xfrm>
            <a:off x="6628448" y="6493431"/>
            <a:ext cx="559118" cy="22860"/>
          </a:xfrm>
          <a:prstGeom prst="roundRect">
            <a:avLst>
              <a:gd name="adj" fmla="val 733832"/>
            </a:avLst>
          </a:prstGeom>
          <a:solidFill>
            <a:srgbClr val="B4CCE3"/>
          </a:solidFill>
          <a:ln/>
        </p:spPr>
        <p:txBody>
          <a:bodyPr/>
          <a:lstStyle/>
          <a:p>
            <a:endParaRPr lang="en-US"/>
          </a:p>
        </p:txBody>
      </p:sp>
      <p:sp>
        <p:nvSpPr>
          <p:cNvPr id="18" name="Shape 15"/>
          <p:cNvSpPr/>
          <p:nvPr/>
        </p:nvSpPr>
        <p:spPr>
          <a:xfrm>
            <a:off x="6231969" y="6295192"/>
            <a:ext cx="419338" cy="419338"/>
          </a:xfrm>
          <a:prstGeom prst="roundRect">
            <a:avLst>
              <a:gd name="adj" fmla="val 40004"/>
            </a:avLst>
          </a:prstGeom>
          <a:solidFill>
            <a:srgbClr val="CEE6FD"/>
          </a:solidFill>
          <a:ln/>
        </p:spPr>
        <p:txBody>
          <a:bodyPr/>
          <a:lstStyle/>
          <a:p>
            <a:endParaRPr lang="en-US"/>
          </a:p>
        </p:txBody>
      </p:sp>
      <p:sp>
        <p:nvSpPr>
          <p:cNvPr id="19" name="Text 16"/>
          <p:cNvSpPr/>
          <p:nvPr/>
        </p:nvSpPr>
        <p:spPr>
          <a:xfrm>
            <a:off x="6301859" y="6330136"/>
            <a:ext cx="279559" cy="349448"/>
          </a:xfrm>
          <a:prstGeom prst="rect">
            <a:avLst/>
          </a:prstGeom>
          <a:noFill/>
          <a:ln/>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3</a:t>
            </a:r>
            <a:endParaRPr lang="en-US" sz="2200" dirty="0"/>
          </a:p>
        </p:txBody>
      </p:sp>
      <p:sp>
        <p:nvSpPr>
          <p:cNvPr id="20" name="Text 17"/>
          <p:cNvSpPr/>
          <p:nvPr/>
        </p:nvSpPr>
        <p:spPr>
          <a:xfrm>
            <a:off x="7373541" y="6359247"/>
            <a:ext cx="2329815" cy="291227"/>
          </a:xfrm>
          <a:prstGeom prst="rect">
            <a:avLst/>
          </a:prstGeom>
          <a:noFill/>
          <a:ln/>
        </p:spPr>
        <p:txBody>
          <a:bodyPr wrap="none" lIns="0" tIns="0" rIns="0" bIns="0" rtlCol="0" anchor="t"/>
          <a:lstStyle/>
          <a:p>
            <a:pPr marL="0" indent="0" algn="l">
              <a:lnSpc>
                <a:spcPts val="225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The Prediction</a:t>
            </a:r>
            <a:endParaRPr lang="en-US" sz="1800" dirty="0"/>
          </a:p>
        </p:txBody>
      </p:sp>
      <p:sp>
        <p:nvSpPr>
          <p:cNvPr id="21" name="Text 18"/>
          <p:cNvSpPr/>
          <p:nvPr/>
        </p:nvSpPr>
        <p:spPr>
          <a:xfrm>
            <a:off x="7373541" y="6755487"/>
            <a:ext cx="6511290" cy="578406"/>
          </a:xfrm>
          <a:prstGeom prst="rect">
            <a:avLst/>
          </a:prstGeom>
          <a:noFill/>
          <a:ln/>
        </p:spPr>
        <p:txBody>
          <a:bodyPr wrap="squar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Targets the highest probability in the current cell's matrix row to anticipate next move</a:t>
            </a:r>
            <a:endParaRPr lang="en-US" sz="1450" dirty="0"/>
          </a:p>
        </p:txBody>
      </p:sp>
      <p:sp>
        <p:nvSpPr>
          <p:cNvPr id="22" name="Rectangle 21">
            <a:extLst>
              <a:ext uri="{FF2B5EF4-FFF2-40B4-BE49-F238E27FC236}">
                <a16:creationId xmlns:a16="http://schemas.microsoft.com/office/drawing/2014/main" id="{3682BCD8-F188-1A51-1A3B-33B5204D75E6}"/>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328630" y="605314"/>
            <a:ext cx="4405551" cy="315873"/>
          </a:xfrm>
          <a:prstGeom prst="rect">
            <a:avLst/>
          </a:prstGeom>
          <a:noFill/>
          <a:ln/>
        </p:spPr>
        <p:txBody>
          <a:bodyPr wrap="none" lIns="0" tIns="0" rIns="0" bIns="0" rtlCol="0" anchor="t"/>
          <a:lstStyle/>
          <a:p>
            <a:pPr marL="0" indent="0" algn="l">
              <a:lnSpc>
                <a:spcPts val="2450"/>
              </a:lnSpc>
              <a:buNone/>
            </a:pPr>
            <a:r>
              <a:rPr lang="en-US" sz="1950" b="1" dirty="0">
                <a:solidFill>
                  <a:srgbClr val="091C53"/>
                </a:solidFill>
                <a:latin typeface="Instrument Sans Semi Bold" pitchFamily="34" charset="0"/>
                <a:ea typeface="Instrument Sans Semi Bold" pitchFamily="34" charset="-122"/>
                <a:cs typeface="Instrument Sans Semi Bold" pitchFamily="34" charset="-120"/>
              </a:rPr>
              <a:t>Markov Model Architecture &amp; Results</a:t>
            </a:r>
            <a:endParaRPr lang="en-US" sz="1950" b="1" dirty="0"/>
          </a:p>
        </p:txBody>
      </p:sp>
      <p:sp>
        <p:nvSpPr>
          <p:cNvPr id="3" name="Text 1"/>
          <p:cNvSpPr/>
          <p:nvPr/>
        </p:nvSpPr>
        <p:spPr>
          <a:xfrm>
            <a:off x="3328630" y="1024176"/>
            <a:ext cx="101084" cy="126325"/>
          </a:xfrm>
          <a:prstGeom prst="rect">
            <a:avLst/>
          </a:prstGeom>
          <a:noFill/>
          <a:ln/>
        </p:spPr>
        <p:txBody>
          <a:bodyPr wrap="none" lIns="0" tIns="0" rIns="0" bIns="0" rtlCol="0" anchor="t"/>
          <a:lstStyle/>
          <a:p>
            <a:pPr marL="0" indent="0" algn="l">
              <a:lnSpc>
                <a:spcPts val="950"/>
              </a:lnSpc>
              <a:buNone/>
            </a:pPr>
            <a:r>
              <a:rPr lang="en-US" sz="750" dirty="0">
                <a:solidFill>
                  <a:srgbClr val="1E3063"/>
                </a:solidFill>
                <a:latin typeface="Instrument Sans Light" pitchFamily="34" charset="0"/>
                <a:ea typeface="Instrument Sans Light" pitchFamily="34" charset="-122"/>
                <a:cs typeface="Instrument Sans Light" pitchFamily="34" charset="-120"/>
              </a:rPr>
              <a:t>01</a:t>
            </a:r>
            <a:endParaRPr lang="en-US" sz="750" dirty="0"/>
          </a:p>
        </p:txBody>
      </p:sp>
      <p:sp>
        <p:nvSpPr>
          <p:cNvPr id="4" name="Shape 2"/>
          <p:cNvSpPr/>
          <p:nvPr/>
        </p:nvSpPr>
        <p:spPr>
          <a:xfrm>
            <a:off x="3328630" y="1180624"/>
            <a:ext cx="3960852" cy="15240"/>
          </a:xfrm>
          <a:prstGeom prst="rect">
            <a:avLst/>
          </a:prstGeom>
          <a:solidFill>
            <a:srgbClr val="84C1FA"/>
          </a:solidFill>
          <a:ln/>
        </p:spPr>
        <p:txBody>
          <a:bodyPr/>
          <a:lstStyle/>
          <a:p>
            <a:endParaRPr lang="en-US"/>
          </a:p>
        </p:txBody>
      </p:sp>
      <p:sp>
        <p:nvSpPr>
          <p:cNvPr id="5" name="Text 3"/>
          <p:cNvSpPr/>
          <p:nvPr/>
        </p:nvSpPr>
        <p:spPr>
          <a:xfrm>
            <a:off x="3328630" y="1261586"/>
            <a:ext cx="1263848" cy="157996"/>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MarkovMatrix</a:t>
            </a:r>
            <a:endParaRPr lang="en-US" sz="950" dirty="0"/>
          </a:p>
        </p:txBody>
      </p:sp>
      <p:sp>
        <p:nvSpPr>
          <p:cNvPr id="6" name="Text 4"/>
          <p:cNvSpPr/>
          <p:nvPr/>
        </p:nvSpPr>
        <p:spPr>
          <a:xfrm>
            <a:off x="3328630" y="1450419"/>
            <a:ext cx="3960852" cy="381357"/>
          </a:xfrm>
          <a:prstGeom prst="rect">
            <a:avLst/>
          </a:prstGeom>
          <a:noFill/>
          <a:ln/>
        </p:spPr>
        <p:txBody>
          <a:bodyPr wrap="square" lIns="0" tIns="0" rIns="0" bIns="0" rtlCol="0" anchor="t"/>
          <a:lstStyle/>
          <a:p>
            <a:pPr marL="0" indent="0" algn="l">
              <a:lnSpc>
                <a:spcPts val="9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Contains integer counts (</a:t>
            </a:r>
            <a:r>
              <a:rPr lang="en-US" sz="750" dirty="0">
                <a:solidFill>
                  <a:srgbClr val="1E3063"/>
                </a:solidFill>
                <a:highlight>
                  <a:srgbClr val="F2F2F2"/>
                </a:highlight>
                <a:latin typeface="Consolas" pitchFamily="34" charset="0"/>
                <a:ea typeface="Consolas" pitchFamily="34" charset="-122"/>
                <a:cs typeface="Consolas" pitchFamily="34" charset="-120"/>
              </a:rPr>
              <a:t>nb</a:t>
            </a:r>
            <a:r>
              <a:rPr lang="en-US" sz="750" dirty="0">
                <a:solidFill>
                  <a:srgbClr val="1E3063"/>
                </a:solidFill>
                <a:latin typeface="Instrument Sans Medium" pitchFamily="34" charset="0"/>
                <a:ea typeface="Instrument Sans Medium" pitchFamily="34" charset="-122"/>
                <a:cs typeface="Instrument Sans Medium" pitchFamily="34" charset="-120"/>
              </a:rPr>
              <a:t>) and decimal probabilities (</a:t>
            </a:r>
            <a:r>
              <a:rPr lang="en-US" sz="750" dirty="0">
                <a:solidFill>
                  <a:srgbClr val="1E3063"/>
                </a:solidFill>
                <a:highlight>
                  <a:srgbClr val="F2F2F2"/>
                </a:highlight>
                <a:latin typeface="Consolas" pitchFamily="34" charset="0"/>
                <a:ea typeface="Consolas" pitchFamily="34" charset="-122"/>
                <a:cs typeface="Consolas" pitchFamily="34" charset="-120"/>
              </a:rPr>
              <a:t>stat</a:t>
            </a:r>
            <a:r>
              <a:rPr lang="en-US" sz="750" dirty="0">
                <a:solidFill>
                  <a:srgbClr val="1E3063"/>
                </a:solidFill>
                <a:latin typeface="Instrument Sans Medium" pitchFamily="34" charset="0"/>
                <a:ea typeface="Instrument Sans Medium" pitchFamily="34" charset="-122"/>
                <a:cs typeface="Instrument Sans Medium" pitchFamily="34" charset="-120"/>
              </a:rPr>
              <a:t>) mapped inside individual class instances. Wraps raw algorithmic data into a stable Object, preventing null-pointer errors and type-juggling crashes in the UI table loop.</a:t>
            </a:r>
            <a:endParaRPr lang="en-US" sz="750" dirty="0"/>
          </a:p>
        </p:txBody>
      </p:sp>
      <p:sp>
        <p:nvSpPr>
          <p:cNvPr id="7" name="Text 5"/>
          <p:cNvSpPr/>
          <p:nvPr/>
        </p:nvSpPr>
        <p:spPr>
          <a:xfrm>
            <a:off x="7340917" y="1024176"/>
            <a:ext cx="101084" cy="126325"/>
          </a:xfrm>
          <a:prstGeom prst="rect">
            <a:avLst/>
          </a:prstGeom>
          <a:noFill/>
          <a:ln/>
        </p:spPr>
        <p:txBody>
          <a:bodyPr wrap="none" lIns="0" tIns="0" rIns="0" bIns="0" rtlCol="0" anchor="t"/>
          <a:lstStyle/>
          <a:p>
            <a:pPr marL="0" indent="0" algn="l">
              <a:lnSpc>
                <a:spcPts val="950"/>
              </a:lnSpc>
              <a:buNone/>
            </a:pPr>
            <a:r>
              <a:rPr lang="en-US" sz="750" dirty="0">
                <a:solidFill>
                  <a:srgbClr val="1E3063"/>
                </a:solidFill>
                <a:latin typeface="Instrument Sans Light" pitchFamily="34" charset="0"/>
                <a:ea typeface="Instrument Sans Light" pitchFamily="34" charset="-122"/>
                <a:cs typeface="Instrument Sans Light" pitchFamily="34" charset="-120"/>
              </a:rPr>
              <a:t>02</a:t>
            </a:r>
            <a:endParaRPr lang="en-US" sz="750" dirty="0"/>
          </a:p>
        </p:txBody>
      </p:sp>
      <p:sp>
        <p:nvSpPr>
          <p:cNvPr id="8" name="Shape 6"/>
          <p:cNvSpPr/>
          <p:nvPr/>
        </p:nvSpPr>
        <p:spPr>
          <a:xfrm>
            <a:off x="7340917" y="1180624"/>
            <a:ext cx="3960852" cy="15240"/>
          </a:xfrm>
          <a:prstGeom prst="rect">
            <a:avLst/>
          </a:prstGeom>
          <a:solidFill>
            <a:srgbClr val="84C1FA"/>
          </a:solidFill>
          <a:ln/>
        </p:spPr>
        <p:txBody>
          <a:bodyPr/>
          <a:lstStyle/>
          <a:p>
            <a:endParaRPr lang="en-US"/>
          </a:p>
        </p:txBody>
      </p:sp>
      <p:sp>
        <p:nvSpPr>
          <p:cNvPr id="9" name="Text 7"/>
          <p:cNvSpPr/>
          <p:nvPr/>
        </p:nvSpPr>
        <p:spPr>
          <a:xfrm>
            <a:off x="7340917" y="1261586"/>
            <a:ext cx="1263848" cy="157996"/>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Session (Facade)</a:t>
            </a:r>
            <a:endParaRPr lang="en-US" sz="950" dirty="0"/>
          </a:p>
        </p:txBody>
      </p:sp>
      <p:sp>
        <p:nvSpPr>
          <p:cNvPr id="10" name="Text 8"/>
          <p:cNvSpPr/>
          <p:nvPr/>
        </p:nvSpPr>
        <p:spPr>
          <a:xfrm>
            <a:off x="7340917" y="1450419"/>
            <a:ext cx="3960852" cy="503396"/>
          </a:xfrm>
          <a:prstGeom prst="rect">
            <a:avLst/>
          </a:prstGeom>
          <a:noFill/>
          <a:ln/>
        </p:spPr>
        <p:txBody>
          <a:bodyPr wrap="square" lIns="0" tIns="0" rIns="0" bIns="0" rtlCol="0" anchor="t"/>
          <a:lstStyle/>
          <a:p>
            <a:pPr marL="0" indent="0" algn="l">
              <a:lnSpc>
                <a:spcPts val="9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Native Laravel storage persisting arrays like </a:t>
            </a:r>
            <a:r>
              <a:rPr lang="en-US" sz="750" dirty="0">
                <a:solidFill>
                  <a:srgbClr val="1E3063"/>
                </a:solidFill>
                <a:highlight>
                  <a:srgbClr val="F2F2F2"/>
                </a:highlight>
                <a:latin typeface="Consolas" pitchFamily="34" charset="0"/>
                <a:ea typeface="Consolas" pitchFamily="34" charset="-122"/>
                <a:cs typeface="Consolas" pitchFamily="34" charset="-120"/>
              </a:rPr>
              <a:t>markov_matrix</a:t>
            </a:r>
            <a:r>
              <a:rPr lang="en-US" sz="750" dirty="0">
                <a:solidFill>
                  <a:srgbClr val="1E3063"/>
                </a:solidFill>
                <a:latin typeface="Instrument Sans Medium" pitchFamily="34" charset="0"/>
                <a:ea typeface="Instrument Sans Medium" pitchFamily="34" charset="-122"/>
                <a:cs typeface="Instrument Sans Medium" pitchFamily="34" charset="-120"/>
              </a:rPr>
              <a:t> and </a:t>
            </a:r>
            <a:r>
              <a:rPr lang="en-US" sz="750" dirty="0">
                <a:solidFill>
                  <a:srgbClr val="1E3063"/>
                </a:solidFill>
                <a:highlight>
                  <a:srgbClr val="F2F2F2"/>
                </a:highlight>
                <a:latin typeface="Consolas" pitchFamily="34" charset="0"/>
                <a:ea typeface="Consolas" pitchFamily="34" charset="-122"/>
                <a:cs typeface="Consolas" pitchFamily="34" charset="-120"/>
              </a:rPr>
              <a:t>markov_history</a:t>
            </a:r>
            <a:r>
              <a:rPr lang="en-US" sz="750" dirty="0">
                <a:solidFill>
                  <a:srgbClr val="1E3063"/>
                </a:solidFill>
                <a:latin typeface="Instrument Sans Medium" pitchFamily="34" charset="0"/>
                <a:ea typeface="Instrument Sans Medium" pitchFamily="34" charset="-122"/>
                <a:cs typeface="Instrument Sans Medium" pitchFamily="34" charset="-120"/>
              </a:rPr>
              <a:t> across HTTP reloads. Critical for building State Memory. Markov chains require contextual timeline knowledge; the Session facade is what allows transitions to accrue progressively step-by-step.</a:t>
            </a:r>
            <a:endParaRPr lang="en-US" sz="750" dirty="0"/>
          </a:p>
        </p:txBody>
      </p:sp>
      <p:sp>
        <p:nvSpPr>
          <p:cNvPr id="11" name="Text 9"/>
          <p:cNvSpPr/>
          <p:nvPr/>
        </p:nvSpPr>
        <p:spPr>
          <a:xfrm>
            <a:off x="3328630" y="2080974"/>
            <a:ext cx="101084" cy="126325"/>
          </a:xfrm>
          <a:prstGeom prst="rect">
            <a:avLst/>
          </a:prstGeom>
          <a:noFill/>
          <a:ln/>
        </p:spPr>
        <p:txBody>
          <a:bodyPr wrap="none" lIns="0" tIns="0" rIns="0" bIns="0" rtlCol="0" anchor="t"/>
          <a:lstStyle/>
          <a:p>
            <a:pPr marL="0" indent="0" algn="l">
              <a:lnSpc>
                <a:spcPts val="950"/>
              </a:lnSpc>
              <a:buNone/>
            </a:pPr>
            <a:r>
              <a:rPr lang="en-US" sz="750" dirty="0">
                <a:solidFill>
                  <a:srgbClr val="1E3063"/>
                </a:solidFill>
                <a:latin typeface="Instrument Sans Light" pitchFamily="34" charset="0"/>
                <a:ea typeface="Instrument Sans Light" pitchFamily="34" charset="-122"/>
                <a:cs typeface="Instrument Sans Light" pitchFamily="34" charset="-120"/>
              </a:rPr>
              <a:t>03</a:t>
            </a:r>
            <a:endParaRPr lang="en-US" sz="750" dirty="0"/>
          </a:p>
        </p:txBody>
      </p:sp>
      <p:sp>
        <p:nvSpPr>
          <p:cNvPr id="12" name="Shape 10"/>
          <p:cNvSpPr/>
          <p:nvPr/>
        </p:nvSpPr>
        <p:spPr>
          <a:xfrm>
            <a:off x="3328630" y="2237423"/>
            <a:ext cx="3960852" cy="15240"/>
          </a:xfrm>
          <a:prstGeom prst="rect">
            <a:avLst/>
          </a:prstGeom>
          <a:solidFill>
            <a:srgbClr val="84C1FA"/>
          </a:solidFill>
          <a:ln/>
        </p:spPr>
        <p:txBody>
          <a:bodyPr/>
          <a:lstStyle/>
          <a:p>
            <a:endParaRPr lang="en-US"/>
          </a:p>
        </p:txBody>
      </p:sp>
      <p:sp>
        <p:nvSpPr>
          <p:cNvPr id="13" name="Text 11"/>
          <p:cNvSpPr/>
          <p:nvPr/>
        </p:nvSpPr>
        <p:spPr>
          <a:xfrm>
            <a:off x="3328630" y="2318385"/>
            <a:ext cx="1263848" cy="157996"/>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MarkovService</a:t>
            </a:r>
            <a:endParaRPr lang="en-US" sz="950" dirty="0"/>
          </a:p>
        </p:txBody>
      </p:sp>
      <p:sp>
        <p:nvSpPr>
          <p:cNvPr id="14" name="Text 12"/>
          <p:cNvSpPr/>
          <p:nvPr/>
        </p:nvSpPr>
        <p:spPr>
          <a:xfrm>
            <a:off x="3328630" y="2507218"/>
            <a:ext cx="3960852" cy="381357"/>
          </a:xfrm>
          <a:prstGeom prst="rect">
            <a:avLst/>
          </a:prstGeom>
          <a:noFill/>
          <a:ln/>
        </p:spPr>
        <p:txBody>
          <a:bodyPr wrap="square" lIns="0" tIns="0" rIns="0" bIns="0" rtlCol="0" anchor="t"/>
          <a:lstStyle/>
          <a:p>
            <a:pPr marL="0" indent="0" algn="l">
              <a:lnSpc>
                <a:spcPts val="9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Provides mathematical matrix construction tools like </a:t>
            </a:r>
            <a:r>
              <a:rPr lang="en-US" sz="750" dirty="0">
                <a:solidFill>
                  <a:srgbClr val="1E3063"/>
                </a:solidFill>
                <a:highlight>
                  <a:srgbClr val="F2F2F2"/>
                </a:highlight>
                <a:latin typeface="Consolas" pitchFamily="34" charset="0"/>
                <a:ea typeface="Consolas" pitchFamily="34" charset="-122"/>
                <a:cs typeface="Consolas" pitchFamily="34" charset="-120"/>
              </a:rPr>
              <a:t>buildTransitionMatrix()</a:t>
            </a:r>
            <a:r>
              <a:rPr lang="en-US" sz="750" dirty="0">
                <a:solidFill>
                  <a:srgbClr val="1E3063"/>
                </a:solidFill>
                <a:latin typeface="Instrument Sans Medium" pitchFamily="34" charset="0"/>
                <a:ea typeface="Instrument Sans Medium" pitchFamily="34" charset="-122"/>
                <a:cs typeface="Instrument Sans Medium" pitchFamily="34" charset="-120"/>
              </a:rPr>
              <a:t>. Takes linear history sequences and converts them into normalized row probability metrics used by the interactive physics mapping graph.</a:t>
            </a:r>
            <a:endParaRPr lang="en-US" sz="750" dirty="0"/>
          </a:p>
        </p:txBody>
      </p:sp>
      <p:sp>
        <p:nvSpPr>
          <p:cNvPr id="15" name="Text 13"/>
          <p:cNvSpPr/>
          <p:nvPr/>
        </p:nvSpPr>
        <p:spPr>
          <a:xfrm>
            <a:off x="7340917" y="2080974"/>
            <a:ext cx="101084" cy="126325"/>
          </a:xfrm>
          <a:prstGeom prst="rect">
            <a:avLst/>
          </a:prstGeom>
          <a:noFill/>
          <a:ln/>
        </p:spPr>
        <p:txBody>
          <a:bodyPr wrap="none" lIns="0" tIns="0" rIns="0" bIns="0" rtlCol="0" anchor="t"/>
          <a:lstStyle/>
          <a:p>
            <a:pPr marL="0" indent="0" algn="l">
              <a:lnSpc>
                <a:spcPts val="950"/>
              </a:lnSpc>
              <a:buNone/>
            </a:pPr>
            <a:r>
              <a:rPr lang="en-US" sz="750" dirty="0">
                <a:solidFill>
                  <a:srgbClr val="1E3063"/>
                </a:solidFill>
                <a:latin typeface="Instrument Sans Light" pitchFamily="34" charset="0"/>
                <a:ea typeface="Instrument Sans Light" pitchFamily="34" charset="-122"/>
                <a:cs typeface="Instrument Sans Light" pitchFamily="34" charset="-120"/>
              </a:rPr>
              <a:t>04</a:t>
            </a:r>
            <a:endParaRPr lang="en-US" sz="750" dirty="0"/>
          </a:p>
        </p:txBody>
      </p:sp>
      <p:sp>
        <p:nvSpPr>
          <p:cNvPr id="16" name="Shape 14"/>
          <p:cNvSpPr/>
          <p:nvPr/>
        </p:nvSpPr>
        <p:spPr>
          <a:xfrm>
            <a:off x="7340917" y="2237423"/>
            <a:ext cx="3960852" cy="15240"/>
          </a:xfrm>
          <a:prstGeom prst="rect">
            <a:avLst/>
          </a:prstGeom>
          <a:solidFill>
            <a:srgbClr val="84C1FA"/>
          </a:solidFill>
          <a:ln/>
        </p:spPr>
        <p:txBody>
          <a:bodyPr/>
          <a:lstStyle/>
          <a:p>
            <a:endParaRPr lang="en-US"/>
          </a:p>
        </p:txBody>
      </p:sp>
      <p:sp>
        <p:nvSpPr>
          <p:cNvPr id="17" name="Text 15"/>
          <p:cNvSpPr/>
          <p:nvPr/>
        </p:nvSpPr>
        <p:spPr>
          <a:xfrm>
            <a:off x="7340917" y="2318385"/>
            <a:ext cx="2173724" cy="157996"/>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PositioningController (TD4 Context)</a:t>
            </a:r>
            <a:endParaRPr lang="en-US" sz="950" dirty="0"/>
          </a:p>
        </p:txBody>
      </p:sp>
      <p:sp>
        <p:nvSpPr>
          <p:cNvPr id="18" name="Text 16"/>
          <p:cNvSpPr/>
          <p:nvPr/>
        </p:nvSpPr>
        <p:spPr>
          <a:xfrm>
            <a:off x="7340917" y="2507218"/>
            <a:ext cx="3960852" cy="518636"/>
          </a:xfrm>
          <a:prstGeom prst="rect">
            <a:avLst/>
          </a:prstGeom>
          <a:noFill/>
          <a:ln/>
        </p:spPr>
        <p:txBody>
          <a:bodyPr wrap="square" lIns="0" tIns="0" rIns="0" bIns="0" rtlCol="0" anchor="t"/>
          <a:lstStyle/>
          <a:p>
            <a:pPr marL="0" indent="0" algn="l">
              <a:lnSpc>
                <a:spcPts val="9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Processes the </a:t>
            </a:r>
            <a:r>
              <a:rPr lang="en-US" sz="750" dirty="0">
                <a:solidFill>
                  <a:srgbClr val="1E3063"/>
                </a:solidFill>
                <a:highlight>
                  <a:srgbClr val="F2F2F2"/>
                </a:highlight>
                <a:latin typeface="Consolas" pitchFamily="34" charset="0"/>
                <a:ea typeface="Consolas" pitchFamily="34" charset="-122"/>
                <a:cs typeface="Consolas" pitchFamily="34" charset="-120"/>
              </a:rPr>
              <a:t>move_to</a:t>
            </a:r>
            <a:r>
              <a:rPr lang="en-US" sz="750" dirty="0">
                <a:solidFill>
                  <a:srgbClr val="1E3063"/>
                </a:solidFill>
                <a:latin typeface="Instrument Sans Medium" pitchFamily="34" charset="0"/>
                <a:ea typeface="Instrument Sans Medium" pitchFamily="34" charset="-122"/>
                <a:cs typeface="Instrument Sans Medium" pitchFamily="34" charset="-120"/>
              </a:rPr>
              <a:t> query bounds in </a:t>
            </a:r>
            <a:r>
              <a:rPr lang="en-US" sz="750" dirty="0">
                <a:solidFill>
                  <a:srgbClr val="1E3063"/>
                </a:solidFill>
                <a:highlight>
                  <a:srgbClr val="F2F2F2"/>
                </a:highlight>
                <a:latin typeface="Consolas" pitchFamily="34" charset="0"/>
                <a:ea typeface="Consolas" pitchFamily="34" charset="-122"/>
                <a:cs typeface="Consolas" pitchFamily="34" charset="-120"/>
              </a:rPr>
              <a:t>markov()</a:t>
            </a:r>
            <a:r>
              <a:rPr lang="en-US" sz="750" dirty="0">
                <a:solidFill>
                  <a:srgbClr val="1E3063"/>
                </a:solidFill>
                <a:latin typeface="Instrument Sans Medium" pitchFamily="34" charset="0"/>
                <a:ea typeface="Instrument Sans Medium" pitchFamily="34" charset="-122"/>
                <a:cs typeface="Instrument Sans Medium" pitchFamily="34" charset="-120"/>
              </a:rPr>
              <a:t>, updates the Session, updates the MarkovMatrix arrays, calculates the predictive </a:t>
            </a:r>
            <a:r>
              <a:rPr lang="en-US" sz="750" dirty="0">
                <a:solidFill>
                  <a:srgbClr val="1E3063"/>
                </a:solidFill>
                <a:highlight>
                  <a:srgbClr val="F2F2F2"/>
                </a:highlight>
                <a:latin typeface="Consolas" pitchFamily="34" charset="0"/>
                <a:ea typeface="Consolas" pitchFamily="34" charset="-122"/>
                <a:cs typeface="Consolas" pitchFamily="34" charset="-120"/>
              </a:rPr>
              <a:t>maxProbability</a:t>
            </a:r>
            <a:r>
              <a:rPr lang="en-US" sz="750" dirty="0">
                <a:solidFill>
                  <a:srgbClr val="1E3063"/>
                </a:solidFill>
                <a:latin typeface="Instrument Sans Medium" pitchFamily="34" charset="0"/>
                <a:ea typeface="Instrument Sans Medium" pitchFamily="34" charset="-122"/>
                <a:cs typeface="Instrument Sans Medium" pitchFamily="34" charset="-120"/>
              </a:rPr>
              <a:t> cell logic, and commands the blade engine to update the frontend Vis-Network graph. Orchestrates the complete prediction pipeline from user input to visual output.</a:t>
            </a:r>
            <a:endParaRPr lang="en-US" sz="750" dirty="0"/>
          </a:p>
        </p:txBody>
      </p:sp>
      <p:sp>
        <p:nvSpPr>
          <p:cNvPr id="19" name="Text 17"/>
          <p:cNvSpPr/>
          <p:nvPr/>
        </p:nvSpPr>
        <p:spPr>
          <a:xfrm>
            <a:off x="3328630" y="3153013"/>
            <a:ext cx="101084" cy="126325"/>
          </a:xfrm>
          <a:prstGeom prst="rect">
            <a:avLst/>
          </a:prstGeom>
          <a:noFill/>
          <a:ln/>
        </p:spPr>
        <p:txBody>
          <a:bodyPr wrap="none" lIns="0" tIns="0" rIns="0" bIns="0" rtlCol="0" anchor="t"/>
          <a:lstStyle/>
          <a:p>
            <a:pPr marL="0" indent="0" algn="l">
              <a:lnSpc>
                <a:spcPts val="950"/>
              </a:lnSpc>
              <a:buNone/>
            </a:pPr>
            <a:r>
              <a:rPr lang="en-US" sz="750" dirty="0">
                <a:solidFill>
                  <a:srgbClr val="1E3063"/>
                </a:solidFill>
                <a:latin typeface="Instrument Sans Light" pitchFamily="34" charset="0"/>
                <a:ea typeface="Instrument Sans Light" pitchFamily="34" charset="-122"/>
                <a:cs typeface="Instrument Sans Light" pitchFamily="34" charset="-120"/>
              </a:rPr>
              <a:t>05</a:t>
            </a:r>
            <a:endParaRPr lang="en-US" sz="750" dirty="0"/>
          </a:p>
        </p:txBody>
      </p:sp>
      <p:sp>
        <p:nvSpPr>
          <p:cNvPr id="20" name="Shape 18"/>
          <p:cNvSpPr/>
          <p:nvPr/>
        </p:nvSpPr>
        <p:spPr>
          <a:xfrm>
            <a:off x="3328630" y="3309461"/>
            <a:ext cx="7973139" cy="15240"/>
          </a:xfrm>
          <a:prstGeom prst="rect">
            <a:avLst/>
          </a:prstGeom>
          <a:solidFill>
            <a:srgbClr val="84C1FA"/>
          </a:solidFill>
          <a:ln/>
        </p:spPr>
        <p:txBody>
          <a:bodyPr/>
          <a:lstStyle/>
          <a:p>
            <a:endParaRPr lang="en-US"/>
          </a:p>
        </p:txBody>
      </p:sp>
      <p:sp>
        <p:nvSpPr>
          <p:cNvPr id="21" name="Text 19"/>
          <p:cNvSpPr/>
          <p:nvPr/>
        </p:nvSpPr>
        <p:spPr>
          <a:xfrm>
            <a:off x="3328630" y="3390424"/>
            <a:ext cx="1449229" cy="157996"/>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Transition Matrix Builder</a:t>
            </a:r>
            <a:endParaRPr lang="en-US" sz="950" dirty="0"/>
          </a:p>
        </p:txBody>
      </p:sp>
      <p:sp>
        <p:nvSpPr>
          <p:cNvPr id="22" name="Text 20"/>
          <p:cNvSpPr/>
          <p:nvPr/>
        </p:nvSpPr>
        <p:spPr>
          <a:xfrm>
            <a:off x="3328630" y="3579257"/>
            <a:ext cx="7973139" cy="244078"/>
          </a:xfrm>
          <a:prstGeom prst="rect">
            <a:avLst/>
          </a:prstGeom>
          <a:noFill/>
          <a:ln/>
        </p:spPr>
        <p:txBody>
          <a:bodyPr wrap="square" lIns="0" tIns="0" rIns="0" bIns="0" rtlCol="0" anchor="t"/>
          <a:lstStyle/>
          <a:p>
            <a:pPr marL="0" indent="0" algn="l">
              <a:lnSpc>
                <a:spcPts val="9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Translates route tallies into percentile probabilities for movement prediction patterns. Converts raw movement history into normalized probability distributions for state prediction.</a:t>
            </a:r>
            <a:endParaRPr lang="en-US" sz="750" dirty="0"/>
          </a:p>
        </p:txBody>
      </p:sp>
      <p:pic>
        <p:nvPicPr>
          <p:cNvPr id="23" name="Image 0" descr="preencoded.png"/>
          <p:cNvPicPr>
            <a:picLocks noChangeAspect="1"/>
          </p:cNvPicPr>
          <p:nvPr/>
        </p:nvPicPr>
        <p:blipFill>
          <a:blip r:embed="rId3"/>
          <a:stretch>
            <a:fillRect/>
          </a:stretch>
        </p:blipFill>
        <p:spPr>
          <a:xfrm>
            <a:off x="3328630" y="4014788"/>
            <a:ext cx="3863221" cy="3273981"/>
          </a:xfrm>
          <a:prstGeom prst="rect">
            <a:avLst/>
          </a:prstGeom>
        </p:spPr>
      </p:pic>
      <p:sp>
        <p:nvSpPr>
          <p:cNvPr id="24" name="Text 21"/>
          <p:cNvSpPr/>
          <p:nvPr/>
        </p:nvSpPr>
        <p:spPr>
          <a:xfrm>
            <a:off x="3328630" y="7346633"/>
            <a:ext cx="3863221" cy="122039"/>
          </a:xfrm>
          <a:prstGeom prst="rect">
            <a:avLst/>
          </a:prstGeom>
          <a:noFill/>
          <a:ln/>
        </p:spPr>
        <p:txBody>
          <a:bodyPr wrap="none" lIns="0" tIns="0" rIns="0" bIns="0" rtlCol="0" anchor="t"/>
          <a:lstStyle/>
          <a:p>
            <a:pPr marL="0" indent="0" algn="l">
              <a:lnSpc>
                <a:spcPts val="950"/>
              </a:lnSpc>
              <a:buNone/>
            </a:pPr>
            <a:r>
              <a:rPr lang="en-US" sz="750" i="1" dirty="0">
                <a:solidFill>
                  <a:srgbClr val="1E3063"/>
                </a:solidFill>
                <a:latin typeface="Instrument Sans Medium" pitchFamily="34" charset="0"/>
                <a:ea typeface="Instrument Sans Medium" pitchFamily="34" charset="-122"/>
                <a:cs typeface="Instrument Sans Medium" pitchFamily="34" charset="-120"/>
              </a:rPr>
              <a:t>Figure 6: UML Class Diagram for Markov Model</a:t>
            </a:r>
            <a:endParaRPr lang="en-US" sz="750" dirty="0"/>
          </a:p>
        </p:txBody>
      </p:sp>
      <p:pic>
        <p:nvPicPr>
          <p:cNvPr id="25" name="Image 1" descr="preencoded.png"/>
          <p:cNvPicPr>
            <a:picLocks noChangeAspect="1"/>
          </p:cNvPicPr>
          <p:nvPr/>
        </p:nvPicPr>
        <p:blipFill>
          <a:blip r:embed="rId4"/>
          <a:stretch>
            <a:fillRect/>
          </a:stretch>
        </p:blipFill>
        <p:spPr>
          <a:xfrm>
            <a:off x="7446169" y="4014788"/>
            <a:ext cx="3863221" cy="3383161"/>
          </a:xfrm>
          <a:prstGeom prst="rect">
            <a:avLst/>
          </a:prstGeom>
        </p:spPr>
      </p:pic>
      <p:sp>
        <p:nvSpPr>
          <p:cNvPr id="26" name="Text 22"/>
          <p:cNvSpPr/>
          <p:nvPr/>
        </p:nvSpPr>
        <p:spPr>
          <a:xfrm>
            <a:off x="7446169" y="7455813"/>
            <a:ext cx="3863221" cy="122039"/>
          </a:xfrm>
          <a:prstGeom prst="rect">
            <a:avLst/>
          </a:prstGeom>
          <a:noFill/>
          <a:ln/>
        </p:spPr>
        <p:txBody>
          <a:bodyPr wrap="none" lIns="0" tIns="0" rIns="0" bIns="0" rtlCol="0" anchor="t"/>
          <a:lstStyle/>
          <a:p>
            <a:pPr marL="0" indent="0" algn="l">
              <a:lnSpc>
                <a:spcPts val="950"/>
              </a:lnSpc>
              <a:buNone/>
            </a:pPr>
            <a:r>
              <a:rPr lang="en-US" sz="750" i="1" dirty="0">
                <a:solidFill>
                  <a:srgbClr val="1E3063"/>
                </a:solidFill>
                <a:latin typeface="Instrument Sans Medium" pitchFamily="34" charset="0"/>
                <a:ea typeface="Instrument Sans Medium" pitchFamily="34" charset="-122"/>
                <a:cs typeface="Instrument Sans Medium" pitchFamily="34" charset="-120"/>
              </a:rPr>
              <a:t>Figure 7: Dynamic Prediction View</a:t>
            </a:r>
            <a:endParaRPr lang="en-US" sz="750" dirty="0"/>
          </a:p>
        </p:txBody>
      </p:sp>
      <p:sp>
        <p:nvSpPr>
          <p:cNvPr id="27" name="Rectangle 26">
            <a:extLst>
              <a:ext uri="{FF2B5EF4-FFF2-40B4-BE49-F238E27FC236}">
                <a16:creationId xmlns:a16="http://schemas.microsoft.com/office/drawing/2014/main" id="{F5713DE7-593D-15C4-D3A8-0B4B1857160B}"/>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1619369"/>
            <a:ext cx="6888837" cy="620078"/>
          </a:xfrm>
          <a:prstGeom prst="rect">
            <a:avLst/>
          </a:prstGeom>
          <a:noFill/>
          <a:ln/>
        </p:spPr>
        <p:txBody>
          <a:bodyPr wrap="none" lIns="0" tIns="0" rIns="0" bIns="0" rtlCol="0" anchor="t"/>
          <a:lstStyle/>
          <a:p>
            <a:pPr marL="0" indent="0" algn="l">
              <a:lnSpc>
                <a:spcPts val="4850"/>
              </a:lnSpc>
              <a:buNone/>
            </a:pPr>
            <a:r>
              <a:rPr lang="en-US" sz="3900" b="1" dirty="0">
                <a:solidFill>
                  <a:srgbClr val="091C53"/>
                </a:solidFill>
                <a:latin typeface="Instrument Sans Semi Bold" pitchFamily="34" charset="0"/>
                <a:ea typeface="Instrument Sans Semi Bold" pitchFamily="34" charset="-122"/>
                <a:cs typeface="Instrument Sans Semi Bold" pitchFamily="34" charset="-120"/>
              </a:rPr>
              <a:t>Comparative Results Analysis</a:t>
            </a:r>
            <a:endParaRPr lang="en-US" sz="3900" b="1" dirty="0"/>
          </a:p>
        </p:txBody>
      </p:sp>
      <p:sp>
        <p:nvSpPr>
          <p:cNvPr id="4" name="Shape 1"/>
          <p:cNvSpPr/>
          <p:nvPr/>
        </p:nvSpPr>
        <p:spPr>
          <a:xfrm>
            <a:off x="793790" y="2537103"/>
            <a:ext cx="3679031" cy="2413635"/>
          </a:xfrm>
          <a:prstGeom prst="roundRect">
            <a:avLst>
              <a:gd name="adj" fmla="val 7401"/>
            </a:avLst>
          </a:prstGeom>
          <a:solidFill>
            <a:srgbClr val="84C1FA"/>
          </a:solidFill>
          <a:ln/>
        </p:spPr>
        <p:txBody>
          <a:bodyPr/>
          <a:lstStyle/>
          <a:p>
            <a:endParaRPr lang="en-US"/>
          </a:p>
        </p:txBody>
      </p:sp>
      <p:sp>
        <p:nvSpPr>
          <p:cNvPr id="5" name="Text 2"/>
          <p:cNvSpPr/>
          <p:nvPr/>
        </p:nvSpPr>
        <p:spPr>
          <a:xfrm>
            <a:off x="992148" y="2735461"/>
            <a:ext cx="3077289"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Instrument Sans Semi Bold" pitchFamily="34" charset="0"/>
                <a:ea typeface="Instrument Sans Semi Bold" pitchFamily="34" charset="-122"/>
                <a:cs typeface="Instrument Sans Semi Bold" pitchFamily="34" charset="-120"/>
              </a:rPr>
              <a:t>N-Lateration Performance</a:t>
            </a:r>
            <a:endParaRPr lang="en-US" sz="1950" dirty="0"/>
          </a:p>
        </p:txBody>
      </p:sp>
      <p:sp>
        <p:nvSpPr>
          <p:cNvPr id="6" name="Text 3"/>
          <p:cNvSpPr/>
          <p:nvPr/>
        </p:nvSpPr>
        <p:spPr>
          <a:xfrm>
            <a:off x="992148" y="3164681"/>
            <a:ext cx="3282315"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strument Sans Medium" pitchFamily="34" charset="0"/>
                <a:ea typeface="Instrument Sans Medium" pitchFamily="34" charset="-122"/>
                <a:cs typeface="Instrument Sans Medium" pitchFamily="34" charset="-120"/>
              </a:rPr>
              <a:t>Grid search with SAE provides robust geometric estimates under heavy noise mapping, handling N=4 and N=3 emitter scenarios effectively</a:t>
            </a:r>
            <a:endParaRPr lang="en-US" sz="1550" dirty="0"/>
          </a:p>
        </p:txBody>
      </p:sp>
      <p:sp>
        <p:nvSpPr>
          <p:cNvPr id="7" name="Shape 4"/>
          <p:cNvSpPr/>
          <p:nvPr/>
        </p:nvSpPr>
        <p:spPr>
          <a:xfrm>
            <a:off x="4671179" y="2537103"/>
            <a:ext cx="3679031" cy="2413635"/>
          </a:xfrm>
          <a:prstGeom prst="roundRect">
            <a:avLst>
              <a:gd name="adj" fmla="val 7401"/>
            </a:avLst>
          </a:prstGeom>
          <a:solidFill>
            <a:srgbClr val="F578DE"/>
          </a:solidFill>
          <a:ln/>
        </p:spPr>
        <p:txBody>
          <a:bodyPr/>
          <a:lstStyle/>
          <a:p>
            <a:endParaRPr lang="en-US"/>
          </a:p>
        </p:txBody>
      </p:sp>
      <p:sp>
        <p:nvSpPr>
          <p:cNvPr id="8" name="Text 5"/>
          <p:cNvSpPr/>
          <p:nvPr/>
        </p:nvSpPr>
        <p:spPr>
          <a:xfrm>
            <a:off x="4869537" y="2735461"/>
            <a:ext cx="2820591"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Instrument Sans Semi Bold" pitchFamily="34" charset="0"/>
                <a:ea typeface="Instrument Sans Semi Bold" pitchFamily="34" charset="-122"/>
                <a:cs typeface="Instrument Sans Semi Bold" pitchFamily="34" charset="-120"/>
              </a:rPr>
              <a:t>Fingerprinting Accuracy</a:t>
            </a:r>
            <a:endParaRPr lang="en-US" sz="1950" dirty="0"/>
          </a:p>
        </p:txBody>
      </p:sp>
      <p:sp>
        <p:nvSpPr>
          <p:cNvPr id="9" name="Text 6"/>
          <p:cNvSpPr/>
          <p:nvPr/>
        </p:nvSpPr>
        <p:spPr>
          <a:xfrm>
            <a:off x="4869537" y="3164681"/>
            <a:ext cx="3282315"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strument Sans Medium" pitchFamily="34" charset="0"/>
                <a:ea typeface="Instrument Sans Medium" pitchFamily="34" charset="-122"/>
                <a:cs typeface="Instrument Sans Medium" pitchFamily="34" charset="-120"/>
              </a:rPr>
              <a:t>WKNN with barycentric weighting functions as the brain behind TD3, allowing location approximation inside severe static environments</a:t>
            </a:r>
            <a:endParaRPr lang="en-US" sz="1550" dirty="0"/>
          </a:p>
        </p:txBody>
      </p:sp>
      <p:sp>
        <p:nvSpPr>
          <p:cNvPr id="10" name="Shape 7"/>
          <p:cNvSpPr/>
          <p:nvPr/>
        </p:nvSpPr>
        <p:spPr>
          <a:xfrm>
            <a:off x="793790" y="5149096"/>
            <a:ext cx="7556421" cy="1461016"/>
          </a:xfrm>
          <a:prstGeom prst="roundRect">
            <a:avLst>
              <a:gd name="adj" fmla="val 12226"/>
            </a:avLst>
          </a:prstGeom>
          <a:solidFill>
            <a:srgbClr val="FF5000"/>
          </a:solidFill>
          <a:ln/>
        </p:spPr>
        <p:txBody>
          <a:bodyPr/>
          <a:lstStyle/>
          <a:p>
            <a:endParaRPr lang="en-US"/>
          </a:p>
        </p:txBody>
      </p:sp>
      <p:sp>
        <p:nvSpPr>
          <p:cNvPr id="11" name="Text 8"/>
          <p:cNvSpPr/>
          <p:nvPr/>
        </p:nvSpPr>
        <p:spPr>
          <a:xfrm>
            <a:off x="992148" y="534745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Instrument Sans Semi Bold" pitchFamily="34" charset="0"/>
                <a:ea typeface="Instrument Sans Semi Bold" pitchFamily="34" charset="-122"/>
                <a:cs typeface="Instrument Sans Semi Bold" pitchFamily="34" charset="-120"/>
              </a:rPr>
              <a:t>Markov Prediction</a:t>
            </a:r>
            <a:endParaRPr lang="en-US" sz="1950" dirty="0"/>
          </a:p>
        </p:txBody>
      </p:sp>
      <p:sp>
        <p:nvSpPr>
          <p:cNvPr id="12" name="Text 9"/>
          <p:cNvSpPr/>
          <p:nvPr/>
        </p:nvSpPr>
        <p:spPr>
          <a:xfrm>
            <a:off x="992148" y="5776674"/>
            <a:ext cx="7159704" cy="63507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Instrument Sans Medium" pitchFamily="34" charset="0"/>
                <a:ea typeface="Instrument Sans Medium" pitchFamily="34" charset="-122"/>
                <a:cs typeface="Instrument Sans Medium" pitchFamily="34" charset="-120"/>
              </a:rPr>
              <a:t>Stochastic chain observing spatial habits rather than raw hardware signals, building state memory progressively through session persistence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0094" y="564118"/>
            <a:ext cx="10349508" cy="586026"/>
          </a:xfrm>
          <a:prstGeom prst="rect">
            <a:avLst/>
          </a:prstGeom>
          <a:noFill/>
          <a:ln/>
        </p:spPr>
        <p:txBody>
          <a:bodyPr wrap="none" lIns="0" tIns="0" rIns="0" bIns="0" rtlCol="0" anchor="t"/>
          <a:lstStyle/>
          <a:p>
            <a:pPr marL="0" indent="0" algn="l">
              <a:lnSpc>
                <a:spcPts val="4600"/>
              </a:lnSpc>
              <a:buNone/>
            </a:pPr>
            <a:r>
              <a:rPr lang="en-US" sz="3650" b="1" dirty="0">
                <a:solidFill>
                  <a:srgbClr val="091C53"/>
                </a:solidFill>
                <a:latin typeface="Instrument Sans Semi Bold" pitchFamily="34" charset="0"/>
                <a:ea typeface="Instrument Sans Semi Bold" pitchFamily="34" charset="-122"/>
                <a:cs typeface="Instrument Sans Semi Bold" pitchFamily="34" charset="-120"/>
              </a:rPr>
              <a:t>Conclusion: A Robust Architectural Foundation</a:t>
            </a:r>
            <a:endParaRPr lang="en-US" sz="3650" b="1" dirty="0"/>
          </a:p>
        </p:txBody>
      </p:sp>
      <p:sp>
        <p:nvSpPr>
          <p:cNvPr id="3" name="Text 1"/>
          <p:cNvSpPr/>
          <p:nvPr/>
        </p:nvSpPr>
        <p:spPr>
          <a:xfrm>
            <a:off x="750094" y="1504474"/>
            <a:ext cx="13130213" cy="583406"/>
          </a:xfrm>
          <a:prstGeom prst="rect">
            <a:avLst/>
          </a:prstGeom>
          <a:noFill/>
          <a:ln/>
        </p:spPr>
        <p:txBody>
          <a:bodyPr wrap="squar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Each algorithm solves a unique facet of Indoor Positioning Systems. Together, N-Lateration, Fingerprinting, and Markov computing form a comprehensive architectural foundation for movement-tracking technologies.</a:t>
            </a:r>
            <a:endParaRPr lang="en-US" sz="1450" dirty="0"/>
          </a:p>
        </p:txBody>
      </p:sp>
      <p:sp>
        <p:nvSpPr>
          <p:cNvPr id="4" name="Text 2"/>
          <p:cNvSpPr/>
          <p:nvPr/>
        </p:nvSpPr>
        <p:spPr>
          <a:xfrm>
            <a:off x="2673310" y="3020258"/>
            <a:ext cx="2344103" cy="293013"/>
          </a:xfrm>
          <a:prstGeom prst="rect">
            <a:avLst/>
          </a:prstGeom>
          <a:noFill/>
          <a:ln/>
        </p:spPr>
        <p:txBody>
          <a:bodyPr wrap="none" lIns="0" tIns="0" rIns="0" bIns="0" rtlCol="0" anchor="t"/>
          <a:lstStyle/>
          <a:p>
            <a:pPr marL="0" indent="0" algn="r">
              <a:lnSpc>
                <a:spcPts val="230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Geometric Precision</a:t>
            </a:r>
            <a:endParaRPr lang="en-US" sz="1800" dirty="0"/>
          </a:p>
        </p:txBody>
      </p:sp>
      <p:sp>
        <p:nvSpPr>
          <p:cNvPr id="5" name="Text 3"/>
          <p:cNvSpPr/>
          <p:nvPr/>
        </p:nvSpPr>
        <p:spPr>
          <a:xfrm>
            <a:off x="750094" y="3419475"/>
            <a:ext cx="4267319" cy="291703"/>
          </a:xfrm>
          <a:prstGeom prst="rect">
            <a:avLst/>
          </a:prstGeom>
          <a:noFill/>
          <a:ln/>
        </p:spPr>
        <p:txBody>
          <a:bodyPr wrap="none" lIns="0" tIns="0" rIns="0" bIns="0" rtlCol="0" anchor="t"/>
          <a:lstStyle/>
          <a:p>
            <a:pPr marL="0" indent="0" algn="r">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Distance-based calculations</a:t>
            </a:r>
            <a:endParaRPr lang="en-US" sz="1450" dirty="0"/>
          </a:p>
        </p:txBody>
      </p:sp>
      <p:pic>
        <p:nvPicPr>
          <p:cNvPr id="6" name="Image 0" descr="preencoded.png"/>
          <p:cNvPicPr>
            <a:picLocks noChangeAspect="1"/>
          </p:cNvPicPr>
          <p:nvPr/>
        </p:nvPicPr>
        <p:blipFill>
          <a:blip r:embed="rId3"/>
          <a:stretch>
            <a:fillRect/>
          </a:stretch>
        </p:blipFill>
        <p:spPr>
          <a:xfrm>
            <a:off x="5017413" y="2287191"/>
            <a:ext cx="4595574" cy="4595574"/>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25957" y="3757553"/>
            <a:ext cx="263604" cy="263604"/>
          </a:xfrm>
          <a:prstGeom prst="rect">
            <a:avLst/>
          </a:prstGeom>
        </p:spPr>
      </p:pic>
      <p:sp>
        <p:nvSpPr>
          <p:cNvPr id="8" name="Text 4"/>
          <p:cNvSpPr/>
          <p:nvPr/>
        </p:nvSpPr>
        <p:spPr>
          <a:xfrm>
            <a:off x="9612987" y="2613898"/>
            <a:ext cx="2344103" cy="293013"/>
          </a:xfrm>
          <a:prstGeom prst="rect">
            <a:avLst/>
          </a:prstGeom>
          <a:noFill/>
          <a:ln/>
        </p:spPr>
        <p:txBody>
          <a:bodyPr wrap="none" lIns="0" tIns="0" rIns="0" bIns="0" rtlCol="0" anchor="t"/>
          <a:lstStyle/>
          <a:p>
            <a:pPr marL="0" indent="0" algn="l">
              <a:lnSpc>
                <a:spcPts val="230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Pattern Recognition</a:t>
            </a:r>
            <a:endParaRPr lang="en-US" sz="1800" dirty="0"/>
          </a:p>
        </p:txBody>
      </p:sp>
      <p:sp>
        <p:nvSpPr>
          <p:cNvPr id="9" name="Text 5"/>
          <p:cNvSpPr/>
          <p:nvPr/>
        </p:nvSpPr>
        <p:spPr>
          <a:xfrm>
            <a:off x="9612987" y="3013115"/>
            <a:ext cx="4267319" cy="291703"/>
          </a:xfrm>
          <a:prstGeom prst="rect">
            <a:avLst/>
          </a:prstGeom>
          <a:noFill/>
          <a:ln/>
        </p:spPr>
        <p:txBody>
          <a:bodyPr wrap="non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Signal matching algorithms</a:t>
            </a:r>
            <a:endParaRPr lang="en-US" sz="1450" dirty="0"/>
          </a:p>
        </p:txBody>
      </p:sp>
      <p:pic>
        <p:nvPicPr>
          <p:cNvPr id="10" name="Image 2" descr="preencoded.png"/>
          <p:cNvPicPr>
            <a:picLocks noChangeAspect="1"/>
          </p:cNvPicPr>
          <p:nvPr/>
        </p:nvPicPr>
        <p:blipFill>
          <a:blip r:embed="rId6"/>
          <a:stretch>
            <a:fillRect/>
          </a:stretch>
        </p:blipFill>
        <p:spPr>
          <a:xfrm>
            <a:off x="5017413" y="2287191"/>
            <a:ext cx="4595574" cy="4595574"/>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48979" y="3327618"/>
            <a:ext cx="263604" cy="263604"/>
          </a:xfrm>
          <a:prstGeom prst="rect">
            <a:avLst/>
          </a:prstGeom>
        </p:spPr>
      </p:pic>
      <p:sp>
        <p:nvSpPr>
          <p:cNvPr id="12" name="Text 6"/>
          <p:cNvSpPr/>
          <p:nvPr/>
        </p:nvSpPr>
        <p:spPr>
          <a:xfrm>
            <a:off x="9988034" y="4239458"/>
            <a:ext cx="2344103" cy="293013"/>
          </a:xfrm>
          <a:prstGeom prst="rect">
            <a:avLst/>
          </a:prstGeom>
          <a:noFill/>
          <a:ln/>
        </p:spPr>
        <p:txBody>
          <a:bodyPr wrap="none" lIns="0" tIns="0" rIns="0" bIns="0" rtlCol="0" anchor="t"/>
          <a:lstStyle/>
          <a:p>
            <a:pPr marL="0" indent="0" algn="l">
              <a:lnSpc>
                <a:spcPts val="230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Behavior Prediction</a:t>
            </a:r>
            <a:endParaRPr lang="en-US" sz="1800" dirty="0"/>
          </a:p>
        </p:txBody>
      </p:sp>
      <p:sp>
        <p:nvSpPr>
          <p:cNvPr id="13" name="Text 7"/>
          <p:cNvSpPr/>
          <p:nvPr/>
        </p:nvSpPr>
        <p:spPr>
          <a:xfrm>
            <a:off x="9988034" y="4638675"/>
            <a:ext cx="3892272" cy="291703"/>
          </a:xfrm>
          <a:prstGeom prst="rect">
            <a:avLst/>
          </a:prstGeom>
          <a:noFill/>
          <a:ln/>
        </p:spPr>
        <p:txBody>
          <a:bodyPr wrap="non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Movement anticipation</a:t>
            </a:r>
            <a:endParaRPr lang="en-US" sz="1450" dirty="0"/>
          </a:p>
        </p:txBody>
      </p:sp>
      <p:pic>
        <p:nvPicPr>
          <p:cNvPr id="14" name="Image 4" descr="preencoded.png"/>
          <p:cNvPicPr>
            <a:picLocks noChangeAspect="1"/>
          </p:cNvPicPr>
          <p:nvPr/>
        </p:nvPicPr>
        <p:blipFill>
          <a:blip r:embed="rId9"/>
          <a:stretch>
            <a:fillRect/>
          </a:stretch>
        </p:blipFill>
        <p:spPr>
          <a:xfrm>
            <a:off x="5017413" y="2287191"/>
            <a:ext cx="4595574" cy="4595574"/>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66581" y="4453116"/>
            <a:ext cx="263604" cy="263604"/>
          </a:xfrm>
          <a:prstGeom prst="rect">
            <a:avLst/>
          </a:prstGeom>
        </p:spPr>
      </p:pic>
      <p:sp>
        <p:nvSpPr>
          <p:cNvPr id="16" name="Text 8"/>
          <p:cNvSpPr/>
          <p:nvPr/>
        </p:nvSpPr>
        <p:spPr>
          <a:xfrm>
            <a:off x="9612987" y="5865019"/>
            <a:ext cx="2344103" cy="293013"/>
          </a:xfrm>
          <a:prstGeom prst="rect">
            <a:avLst/>
          </a:prstGeom>
          <a:noFill/>
          <a:ln/>
        </p:spPr>
        <p:txBody>
          <a:bodyPr wrap="none" lIns="0" tIns="0" rIns="0" bIns="0" rtlCol="0" anchor="t"/>
          <a:lstStyle/>
          <a:p>
            <a:pPr marL="0" indent="0" algn="l">
              <a:lnSpc>
                <a:spcPts val="230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Noise Resilience</a:t>
            </a:r>
            <a:endParaRPr lang="en-US" sz="1800" dirty="0"/>
          </a:p>
        </p:txBody>
      </p:sp>
      <p:sp>
        <p:nvSpPr>
          <p:cNvPr id="17" name="Text 9"/>
          <p:cNvSpPr/>
          <p:nvPr/>
        </p:nvSpPr>
        <p:spPr>
          <a:xfrm>
            <a:off x="9612987" y="6264235"/>
            <a:ext cx="4267319" cy="291703"/>
          </a:xfrm>
          <a:prstGeom prst="rect">
            <a:avLst/>
          </a:prstGeom>
          <a:noFill/>
          <a:ln/>
        </p:spPr>
        <p:txBody>
          <a:bodyPr wrap="non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Handles signal interference</a:t>
            </a:r>
            <a:endParaRPr lang="en-US" sz="1450" dirty="0"/>
          </a:p>
        </p:txBody>
      </p:sp>
      <p:pic>
        <p:nvPicPr>
          <p:cNvPr id="18" name="Image 6" descr="preencoded.png"/>
          <p:cNvPicPr>
            <a:picLocks noChangeAspect="1"/>
          </p:cNvPicPr>
          <p:nvPr/>
        </p:nvPicPr>
        <p:blipFill>
          <a:blip r:embed="rId12"/>
          <a:stretch>
            <a:fillRect/>
          </a:stretch>
        </p:blipFill>
        <p:spPr>
          <a:xfrm>
            <a:off x="5017413" y="2287191"/>
            <a:ext cx="4595574" cy="4595574"/>
          </a:xfrm>
          <a:prstGeom prst="rect">
            <a:avLst/>
          </a:prstGeom>
        </p:spPr>
      </p:pic>
      <p:pic>
        <p:nvPicPr>
          <p:cNvPr id="1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48979" y="5578495"/>
            <a:ext cx="263604" cy="263604"/>
          </a:xfrm>
          <a:prstGeom prst="rect">
            <a:avLst/>
          </a:prstGeom>
        </p:spPr>
      </p:pic>
      <p:sp>
        <p:nvSpPr>
          <p:cNvPr id="20" name="Text 10"/>
          <p:cNvSpPr/>
          <p:nvPr/>
        </p:nvSpPr>
        <p:spPr>
          <a:xfrm>
            <a:off x="2673310" y="5458658"/>
            <a:ext cx="2344103" cy="293013"/>
          </a:xfrm>
          <a:prstGeom prst="rect">
            <a:avLst/>
          </a:prstGeom>
          <a:noFill/>
          <a:ln/>
        </p:spPr>
        <p:txBody>
          <a:bodyPr wrap="none" lIns="0" tIns="0" rIns="0" bIns="0" rtlCol="0" anchor="t"/>
          <a:lstStyle/>
          <a:p>
            <a:pPr marL="0" indent="0" algn="r">
              <a:lnSpc>
                <a:spcPts val="230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Layered Architecture</a:t>
            </a:r>
            <a:endParaRPr lang="en-US" sz="1800" dirty="0"/>
          </a:p>
        </p:txBody>
      </p:sp>
      <p:sp>
        <p:nvSpPr>
          <p:cNvPr id="21" name="Text 11"/>
          <p:cNvSpPr/>
          <p:nvPr/>
        </p:nvSpPr>
        <p:spPr>
          <a:xfrm>
            <a:off x="750094" y="5857875"/>
            <a:ext cx="4267319" cy="291703"/>
          </a:xfrm>
          <a:prstGeom prst="rect">
            <a:avLst/>
          </a:prstGeom>
          <a:noFill/>
          <a:ln/>
        </p:spPr>
        <p:txBody>
          <a:bodyPr wrap="none" lIns="0" tIns="0" rIns="0" bIns="0" rtlCol="0" anchor="t"/>
          <a:lstStyle/>
          <a:p>
            <a:pPr marL="0" indent="0" algn="r">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Modular design patterns</a:t>
            </a:r>
            <a:endParaRPr lang="en-US" sz="1450" dirty="0"/>
          </a:p>
        </p:txBody>
      </p:sp>
      <p:pic>
        <p:nvPicPr>
          <p:cNvPr id="22" name="Image 8" descr="preencoded.png"/>
          <p:cNvPicPr>
            <a:picLocks noChangeAspect="1"/>
          </p:cNvPicPr>
          <p:nvPr/>
        </p:nvPicPr>
        <p:blipFill>
          <a:blip r:embed="rId15"/>
          <a:stretch>
            <a:fillRect/>
          </a:stretch>
        </p:blipFill>
        <p:spPr>
          <a:xfrm>
            <a:off x="5017413" y="2287191"/>
            <a:ext cx="4595574" cy="4595574"/>
          </a:xfrm>
          <a:prstGeom prst="rect">
            <a:avLst/>
          </a:prstGeom>
        </p:spPr>
      </p:pic>
      <p:pic>
        <p:nvPicPr>
          <p:cNvPr id="23"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225957" y="5148560"/>
            <a:ext cx="263604" cy="263604"/>
          </a:xfrm>
          <a:prstGeom prst="rect">
            <a:avLst/>
          </a:prstGeom>
        </p:spPr>
      </p:pic>
      <p:sp>
        <p:nvSpPr>
          <p:cNvPr id="24" name="Text 12"/>
          <p:cNvSpPr/>
          <p:nvPr/>
        </p:nvSpPr>
        <p:spPr>
          <a:xfrm>
            <a:off x="750094" y="7082076"/>
            <a:ext cx="13130213" cy="583406"/>
          </a:xfrm>
          <a:prstGeom prst="rect">
            <a:avLst/>
          </a:prstGeom>
          <a:noFill/>
          <a:ln/>
        </p:spPr>
        <p:txBody>
          <a:bodyPr wrap="square" lIns="0" tIns="0" rIns="0" bIns="0" rtlCol="0" anchor="t"/>
          <a:lstStyle/>
          <a:p>
            <a:pPr marL="0" indent="0" algn="l">
              <a:lnSpc>
                <a:spcPts val="22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These three methodologies—geometrical, probabilistic, and predictive—demonstrate how diverse algorithmic approaches can be combined to create robust indoor positioning solutions capable of handling real-world challenges like signal noise, physical interference, and complex movement patterns.</a:t>
            </a:r>
            <a:endParaRPr lang="en-US" sz="1450" dirty="0"/>
          </a:p>
        </p:txBody>
      </p:sp>
      <p:sp>
        <p:nvSpPr>
          <p:cNvPr id="25" name="Rectangle 24">
            <a:extLst>
              <a:ext uri="{FF2B5EF4-FFF2-40B4-BE49-F238E27FC236}">
                <a16:creationId xmlns:a16="http://schemas.microsoft.com/office/drawing/2014/main" id="{C00E4F10-5A17-74AA-759C-D5DAED0E074E}"/>
              </a:ext>
            </a:extLst>
          </p:cNvPr>
          <p:cNvSpPr/>
          <p:nvPr/>
        </p:nvSpPr>
        <p:spPr>
          <a:xfrm>
            <a:off x="12869694" y="7704306"/>
            <a:ext cx="1682885" cy="45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1199</Words>
  <Application>Microsoft Office PowerPoint</Application>
  <PresentationFormat>Custom</PresentationFormat>
  <Paragraphs>132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Instrument Sans Semi Bold</vt:lpstr>
      <vt:lpstr>Instrument Sans Medium</vt:lpstr>
      <vt:lpstr>Consolas</vt:lpstr>
      <vt:lpstr>Instrument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XENO Novak</cp:lastModifiedBy>
  <cp:revision>3</cp:revision>
  <dcterms:created xsi:type="dcterms:W3CDTF">2026-03-22T19:49:47Z</dcterms:created>
  <dcterms:modified xsi:type="dcterms:W3CDTF">2026-03-22T19:57:32Z</dcterms:modified>
</cp:coreProperties>
</file>